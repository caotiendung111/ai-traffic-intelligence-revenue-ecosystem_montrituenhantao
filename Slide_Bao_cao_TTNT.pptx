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9.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0728655" cy="2743200"/>
          </a:xfrm>
          <a:prstGeom prst="rect">
            <a:avLst/>
          </a:prstGeom>
          <a:noFill/>
        </p:spPr>
        <p:txBody>
          <a:bodyPr wrap="square">
            <a:spAutoFit/>
          </a:bodyPr>
          <a:lstStyle/>
          <a:p>
            <a:r>
              <a:rPr sz="3500" b="1">
                <a:solidFill>
                  <a:srgbClr val="FFFFFF"/>
                </a:solidFill>
                <a:latin typeface="Arial" panose="020B0604020202020204"/>
              </a:rPr>
              <a:t>HỆ THỐNG NHẬN DIỆN BIỂN SỐ XE VÀ GIÁM SÁT GIAO THÔNG THÔNG MINH
</a:t>
            </a:r>
            <a:endParaRPr sz="3500" b="1">
              <a:solidFill>
                <a:srgbClr val="FFFFFF"/>
              </a:solidFill>
              <a:latin typeface="Arial" panose="020B0604020202020204"/>
            </a:endParaRPr>
          </a:p>
          <a:p>
            <a:pPr>
              <a:spcBef>
                <a:spcPts val="800"/>
              </a:spcBef>
            </a:pPr>
            <a:r>
              <a:rPr sz="2000" i="1">
                <a:solidFill>
                  <a:srgbClr val="EAB308"/>
                </a:solidFill>
                <a:latin typeface="Calibri" panose="020F0502020204030204"/>
              </a:rPr>
              <a:t>Giải pháp LPR đa luồng hiệu năng cao tích hợp YOLOv8, OpenVINO và EasyOCR trên CPU Edge</a:t>
            </a:r>
            <a:endParaRPr sz="2000" i="1">
              <a:solidFill>
                <a:srgbClr val="EAB308"/>
              </a:solidFill>
              <a:latin typeface="Calibri" panose="020F0502020204030204"/>
            </a:endParaRPr>
          </a:p>
        </p:txBody>
      </p:sp>
      <p:sp>
        <p:nvSpPr>
          <p:cNvPr id="4" name="Rectangle 3"/>
          <p:cNvSpPr/>
          <p:nvPr/>
        </p:nvSpPr>
        <p:spPr>
          <a:xfrm>
            <a:off x="731520" y="3840480"/>
            <a:ext cx="4572000" cy="54864"/>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114800"/>
            <a:ext cx="10728655" cy="2286000"/>
          </a:xfrm>
          <a:prstGeom prst="rect">
            <a:avLst/>
          </a:prstGeom>
          <a:noFill/>
        </p:spPr>
        <p:txBody>
          <a:bodyPr wrap="square">
            <a:spAutoFit/>
          </a:bodyPr>
          <a:lstStyle/>
          <a:p>
            <a:pPr>
              <a:spcAft>
                <a:spcPts val="300"/>
              </a:spcAft>
            </a:pPr>
            <a:r>
              <a:rPr sz="1400">
                <a:solidFill>
                  <a:srgbClr val="F1F5F9"/>
                </a:solidFill>
                <a:latin typeface="Calibri" panose="020F0502020204030204"/>
              </a:rPr>
              <a:t>Sinh viên thực hiện: </a:t>
            </a:r>
            <a:r>
              <a:rPr sz="1400" b="1">
                <a:solidFill>
                  <a:srgbClr val="EAB308"/>
                </a:solidFill>
              </a:rPr>
              <a:t>Cao Tiến Dũng</a:t>
            </a:r>
            <a:r>
              <a:rPr sz="1400">
                <a:solidFill>
                  <a:srgbClr val="F1F5F9"/>
                </a:solidFill>
              </a:rPr>
              <a:t> (MSSV: 106220049 – Lớp 22DT2)  và  </a:t>
            </a:r>
            <a:r>
              <a:rPr sz="1400" b="1">
                <a:solidFill>
                  <a:srgbClr val="EAB308"/>
                </a:solidFill>
              </a:rPr>
              <a:t>Võ Duy Đạt</a:t>
            </a:r>
            <a:r>
              <a:rPr sz="1400">
                <a:solidFill>
                  <a:srgbClr val="F1F5F9"/>
                </a:solidFill>
              </a:rPr>
              <a:t> (MSSV: 106210120)</a:t>
            </a:r>
            <a:endParaRPr sz="1400">
              <a:solidFill>
                <a:srgbClr val="F1F5F9"/>
              </a:solidFill>
            </a:endParaRPr>
          </a:p>
          <a:p>
            <a:pPr>
              <a:spcAft>
                <a:spcPts val="300"/>
              </a:spcAft>
            </a:pPr>
            <a:r>
              <a:rPr sz="1400">
                <a:solidFill>
                  <a:srgbClr val="F1F5F9"/>
                </a:solidFill>
                <a:latin typeface="Calibri" panose="020F0502020204030204"/>
              </a:rPr>
              <a:t>Đơn vị: Khoa Điện tử Viễn thông, Trường Đại học Bách Khoa - ĐHĐN</a:t>
            </a:r>
            <a:endParaRPr sz="1400">
              <a:solidFill>
                <a:srgbClr val="F1F5F9"/>
              </a:solidFill>
              <a:latin typeface="Calibri" panose="020F0502020204030204"/>
            </a:endParaRPr>
          </a:p>
          <a:p>
            <a:r>
              <a:rPr sz="1400">
                <a:solidFill>
                  <a:srgbClr val="F1F5F9"/>
                </a:solidFill>
                <a:latin typeface="Calibri" panose="020F0502020204030204"/>
              </a:rPr>
              <a:t>Giảng viên hướng dẫn: </a:t>
            </a:r>
            <a:r>
              <a:rPr sz="1400" b="1">
                <a:solidFill>
                  <a:srgbClr val="EAB308"/>
                </a:solidFill>
                <a:latin typeface="Calibri" panose="020F0502020204030204"/>
              </a:rPr>
              <a:t>TS. Đào Duy Tuấn</a:t>
            </a:r>
            <a:endParaRPr sz="1400" b="1">
              <a:solidFill>
                <a:srgbClr val="EAB308"/>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914400"/>
          </a:xfrm>
          <a:prstGeom prst="rect">
            <a:avLst/>
          </a:prstGeom>
          <a:noFill/>
        </p:spPr>
        <p:txBody>
          <a:bodyPr wrap="square" tIns="0" bIns="0">
            <a:spAutoFit/>
          </a:bodyPr>
          <a:lstStyle/>
          <a:p>
            <a:pPr>
              <a:spcAft>
                <a:spcPts val="200"/>
              </a:spcAft>
            </a:pPr>
            <a:r>
              <a:rPr sz="2600" b="1">
                <a:solidFill>
                  <a:srgbClr val="1E3A8A"/>
                </a:solidFill>
                <a:latin typeface="Arial" panose="020B0604020202020204"/>
              </a:rPr>
              <a:t>1. Đặt vấn đề &amp; Thách thức thực tiễn</a:t>
            </a:r>
            <a:endParaRPr sz="2600" b="1">
              <a:solidFill>
                <a:srgbClr val="1E3A8A"/>
              </a:solidFill>
              <a:latin typeface="Arial" panose="020B0604020202020204"/>
            </a:endParaRPr>
          </a:p>
          <a:p>
            <a:r>
              <a:rPr sz="1400" i="1">
                <a:solidFill>
                  <a:srgbClr val="64748B"/>
                </a:solidFill>
                <a:latin typeface="Calibri" panose="020F0502020204030204"/>
              </a:rPr>
              <a:t>Nhu cầu tự động hóa ALPR và các rào cản kỹ thuật đặc thù</a:t>
            </a:r>
            <a:endParaRPr sz="1400" i="1">
              <a:solidFill>
                <a:srgbClr val="64748B"/>
              </a:solidFill>
              <a:latin typeface="Calibri" panose="020F0502020204030204"/>
            </a:endParaRPr>
          </a:p>
        </p:txBody>
      </p:sp>
      <p:sp>
        <p:nvSpPr>
          <p:cNvPr id="4" name="Rectangle 3"/>
          <p:cNvSpPr/>
          <p:nvPr/>
        </p:nvSpPr>
        <p:spPr>
          <a:xfrm>
            <a:off x="457200" y="1051560"/>
            <a:ext cx="11277295" cy="365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5394960" cy="484632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4846320" cy="4297680"/>
          </a:xfrm>
          <a:prstGeom prst="rect">
            <a:avLst/>
          </a:prstGeom>
          <a:noFill/>
        </p:spPr>
        <p:txBody>
          <a:bodyPr wrap="square" lIns="0" tIns="0" rIns="0" bIns="0">
            <a:spAutoFit/>
          </a:bodyPr>
          <a:lstStyle/>
          <a:p>
            <a:pPr>
              <a:spcBef>
                <a:spcPts val="200"/>
              </a:spcBef>
              <a:spcAft>
                <a:spcPts val="800"/>
              </a:spcAft>
            </a:pPr>
            <a:r>
              <a:rPr sz="1500" b="1">
                <a:solidFill>
                  <a:srgbClr val="1E3A8A"/>
                </a:solidFill>
                <a:latin typeface="Calibri" panose="020F0502020204030204"/>
              </a:rPr>
              <a:t>Yêu cầu Quản lý Đô thị thông minh: </a:t>
            </a:r>
            <a:r>
              <a:rPr sz="1500" b="0">
                <a:solidFill>
                  <a:srgbClr val="1E293B"/>
                </a:solidFill>
                <a:latin typeface="Calibri" panose="020F0502020204030204"/>
              </a:rPr>
              <a:t>Nhu cầu cấp thiết về quản lý xe tự động, chính xác cao trong giao thông đô thị Việt Nam.</a:t>
            </a:r>
            <a:endParaRPr sz="1500" b="0">
              <a:solidFill>
                <a:srgbClr val="1E293B"/>
              </a:solidFill>
              <a:latin typeface="Calibri" panose="020F0502020204030204"/>
            </a:endParaRPr>
          </a:p>
          <a:p>
            <a:pPr>
              <a:spcBef>
                <a:spcPts val="200"/>
              </a:spcBef>
              <a:spcAft>
                <a:spcPts val="800"/>
              </a:spcAft>
            </a:pPr>
            <a:r>
              <a:rPr sz="1500" b="1">
                <a:solidFill>
                  <a:srgbClr val="1E3A8A"/>
                </a:solidFill>
                <a:latin typeface="Calibri" panose="020F0502020204030204"/>
              </a:rPr>
              <a:t>Hệ thống thu phí tự động (ETC): </a:t>
            </a:r>
            <a:r>
              <a:rPr sz="1500" b="0">
                <a:solidFill>
                  <a:srgbClr val="1E293B"/>
                </a:solidFill>
                <a:latin typeface="Calibri" panose="020F0502020204030204"/>
              </a:rPr>
              <a:t>Giảm ùn tắc giao thông, tối ưu chi phí vận hành nhân lực tại các bãi đỗ xe và trạm BOT.</a:t>
            </a:r>
            <a:endParaRPr sz="1500" b="0">
              <a:solidFill>
                <a:srgbClr val="1E293B"/>
              </a:solidFill>
              <a:latin typeface="Calibri" panose="020F0502020204030204"/>
            </a:endParaRPr>
          </a:p>
          <a:p>
            <a:pPr>
              <a:spcBef>
                <a:spcPts val="200"/>
              </a:spcBef>
              <a:spcAft>
                <a:spcPts val="800"/>
              </a:spcAft>
            </a:pPr>
            <a:r>
              <a:rPr sz="1500" b="1">
                <a:solidFill>
                  <a:srgbClr val="1E3A8A"/>
                </a:solidFill>
                <a:latin typeface="Calibri" panose="020F0502020204030204"/>
              </a:rPr>
              <a:t>Edge AI &amp; CPU deployment: </a:t>
            </a:r>
            <a:r>
              <a:rPr sz="1500" b="0">
                <a:solidFill>
                  <a:srgbClr val="1E293B"/>
                </a:solidFill>
                <a:latin typeface="Calibri" panose="020F0502020204030204"/>
              </a:rPr>
              <a:t>Đòi hỏi giải pháp AI gọn nhẹ chạy ổn định trên CPU máy tính thông dụng, không phụ thuộc vào GPU đắt đỏ.</a:t>
            </a:r>
            <a:endParaRPr sz="1500" b="0">
              <a:solidFill>
                <a:srgbClr val="1E293B"/>
              </a:solidFill>
              <a:latin typeface="Calibri" panose="020F0502020204030204"/>
            </a:endParaRPr>
          </a:p>
        </p:txBody>
      </p:sp>
      <p:sp>
        <p:nvSpPr>
          <p:cNvPr id="7" name="Rounded Rectangle 6"/>
          <p:cNvSpPr/>
          <p:nvPr/>
        </p:nvSpPr>
        <p:spPr>
          <a:xfrm>
            <a:off x="6309360" y="1371600"/>
            <a:ext cx="5394960" cy="484632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645920"/>
            <a:ext cx="4846320" cy="4297680"/>
          </a:xfrm>
          <a:prstGeom prst="rect">
            <a:avLst/>
          </a:prstGeom>
          <a:noFill/>
        </p:spPr>
        <p:txBody>
          <a:bodyPr wrap="square" lIns="0" tIns="0" rIns="0" bIns="0">
            <a:spAutoFit/>
          </a:bodyPr>
          <a:lstStyle/>
          <a:p>
            <a:pPr>
              <a:spcBef>
                <a:spcPts val="200"/>
              </a:spcBef>
              <a:spcAft>
                <a:spcPts val="800"/>
              </a:spcAft>
            </a:pPr>
            <a:r>
              <a:rPr sz="1500" b="1">
                <a:solidFill>
                  <a:srgbClr val="EA580C"/>
                </a:solidFill>
                <a:latin typeface="Calibri" panose="020F0502020204030204"/>
              </a:rPr>
              <a:t>Định dạng biển số VN đa dạng: </a:t>
            </a:r>
            <a:r>
              <a:rPr sz="1500" b="0">
                <a:solidFill>
                  <a:srgbClr val="1E293B"/>
                </a:solidFill>
                <a:latin typeface="Calibri" panose="020F0502020204030204"/>
              </a:rPr>
              <a:t>Gồm biển 1 dòng, biển vuông 2 dòng khít nhau, font chữ đặc thù dễ đọc nhầm (O-0, 8-B).</a:t>
            </a:r>
            <a:endParaRPr sz="1500" b="0">
              <a:solidFill>
                <a:srgbClr val="1E293B"/>
              </a:solidFill>
              <a:latin typeface="Calibri" panose="020F0502020204030204"/>
            </a:endParaRPr>
          </a:p>
          <a:p>
            <a:pPr>
              <a:spcBef>
                <a:spcPts val="200"/>
              </a:spcBef>
              <a:spcAft>
                <a:spcPts val="800"/>
              </a:spcAft>
            </a:pPr>
            <a:r>
              <a:rPr sz="1500" b="1">
                <a:solidFill>
                  <a:srgbClr val="EA580C"/>
                </a:solidFill>
                <a:latin typeface="Calibri" panose="020F0502020204030204"/>
              </a:rPr>
              <a:t>Điều kiện ngoại cảnh phức tạp: </a:t>
            </a:r>
            <a:r>
              <a:rPr sz="1500" b="0">
                <a:solidFill>
                  <a:srgbClr val="1E293B"/>
                </a:solidFill>
                <a:latin typeface="Calibri" panose="020F0502020204030204"/>
              </a:rPr>
              <a:t>Thời tiết khắc nghiệt, camera bị rung lắc, xe di chuyển tốc độ cao gây mờ nhòe (Motion Blur).</a:t>
            </a:r>
            <a:endParaRPr sz="1500" b="0">
              <a:solidFill>
                <a:srgbClr val="1E293B"/>
              </a:solidFill>
              <a:latin typeface="Calibri" panose="020F0502020204030204"/>
            </a:endParaRPr>
          </a:p>
          <a:p>
            <a:pPr>
              <a:spcBef>
                <a:spcPts val="200"/>
              </a:spcBef>
              <a:spcAft>
                <a:spcPts val="800"/>
              </a:spcAft>
            </a:pPr>
            <a:r>
              <a:rPr sz="1500" b="1">
                <a:solidFill>
                  <a:srgbClr val="EA580C"/>
                </a:solidFill>
                <a:latin typeface="Calibri" panose="020F0502020204030204"/>
              </a:rPr>
              <a:t>Hiệu ứng ánh sáng &amp; bóng râm: </a:t>
            </a:r>
            <a:r>
              <a:rPr sz="1500" b="0">
                <a:solidFill>
                  <a:srgbClr val="1E293B"/>
                </a:solidFill>
                <a:latin typeface="Calibri" panose="020F0502020204030204"/>
              </a:rPr>
              <a:t>Lóa đèn pha ban đêm (Overexposure) hoặc tối đen cục bộ dưới gầm cầu, bóng râm cây cối.</a:t>
            </a:r>
            <a:endParaRPr sz="1500" b="0">
              <a:solidFill>
                <a:srgbClr val="1E293B"/>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914400"/>
          </a:xfrm>
          <a:prstGeom prst="rect">
            <a:avLst/>
          </a:prstGeom>
          <a:noFill/>
        </p:spPr>
        <p:txBody>
          <a:bodyPr wrap="square" tIns="0" bIns="0">
            <a:spAutoFit/>
          </a:bodyPr>
          <a:lstStyle/>
          <a:p>
            <a:pPr>
              <a:spcAft>
                <a:spcPts val="200"/>
              </a:spcAft>
            </a:pPr>
            <a:r>
              <a:rPr sz="2600" b="1">
                <a:solidFill>
                  <a:srgbClr val="1E3A8A"/>
                </a:solidFill>
                <a:latin typeface="Arial" panose="020B0604020202020204"/>
              </a:rPr>
              <a:t>2. Cơ sở lý thuyết: Mạng CNN &amp; Hàm kích hoạt SiLU</a:t>
            </a:r>
            <a:endParaRPr sz="2600" b="1">
              <a:solidFill>
                <a:srgbClr val="1E3A8A"/>
              </a:solidFill>
              <a:latin typeface="Arial" panose="020B0604020202020204"/>
            </a:endParaRPr>
          </a:p>
          <a:p>
            <a:r>
              <a:rPr sz="1400" i="1">
                <a:solidFill>
                  <a:srgbClr val="64748B"/>
                </a:solidFill>
                <a:latin typeface="Calibri" panose="020F0502020204030204"/>
              </a:rPr>
              <a:t>Nền tảng toán học của việc học đặc trưng không gian trong học sâu</a:t>
            </a:r>
            <a:endParaRPr sz="1400" i="1">
              <a:solidFill>
                <a:srgbClr val="64748B"/>
              </a:solidFill>
              <a:latin typeface="Calibri" panose="020F0502020204030204"/>
            </a:endParaRPr>
          </a:p>
        </p:txBody>
      </p:sp>
      <p:sp>
        <p:nvSpPr>
          <p:cNvPr id="4" name="Rectangle 3"/>
          <p:cNvSpPr/>
          <p:nvPr/>
        </p:nvSpPr>
        <p:spPr>
          <a:xfrm>
            <a:off x="457200" y="1051560"/>
            <a:ext cx="11277295" cy="365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6217920" cy="4846320"/>
          </a:xfrm>
          <a:prstGeom prst="rect">
            <a:avLst/>
          </a:prstGeom>
          <a:noFill/>
        </p:spPr>
        <p:txBody>
          <a:bodyPr wrap="square" lIns="0" tIns="0" rIns="0" bIns="0">
            <a:spAutoFit/>
          </a:bodyPr>
          <a:lstStyle/>
          <a:p>
            <a:pPr>
              <a:spcBef>
                <a:spcPts val="200"/>
              </a:spcBef>
              <a:spcAft>
                <a:spcPts val="800"/>
              </a:spcAft>
            </a:pPr>
            <a:r>
              <a:rPr sz="1400" b="1">
                <a:solidFill>
                  <a:srgbClr val="1E3A8A"/>
                </a:solidFill>
                <a:latin typeface="Calibri" panose="020F0502020204030204"/>
              </a:rPr>
              <a:t>Phép tích chập 2D (Convolution): </a:t>
            </a:r>
            <a:r>
              <a:rPr sz="1400" b="0">
                <a:solidFill>
                  <a:srgbClr val="1E293B"/>
                </a:solidFill>
                <a:latin typeface="Calibri" panose="020F0502020204030204"/>
              </a:rPr>
              <a:t>Là phép toán cơ bản trích xuất đặc trưng không gian của ảnh biển số xe bằng cách trượt một bộ lọc hạt nhân (kernel) m x n trên ảnh đầu vào.</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Tính bất biến không gian: </a:t>
            </a:r>
            <a:r>
              <a:rPr sz="1400" b="0">
                <a:solidFill>
                  <a:srgbClr val="1E293B"/>
                </a:solidFill>
                <a:latin typeface="Calibri" panose="020F0502020204030204"/>
              </a:rPr>
              <a:t>Tích chập giúp mô hình nhận diện biển số bất chấp các dịch chuyển nhỏ hoặc biến đổi góc chụp.</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Hàm kích hoạt SiLU (Sigmoid Linear Unit): </a:t>
            </a:r>
            <a:r>
              <a:rPr sz="1400" b="0">
                <a:solidFill>
                  <a:srgbClr val="1E293B"/>
                </a:solidFill>
                <a:latin typeface="Calibri" panose="020F0502020204030204"/>
              </a:rPr>
              <a:t>Được định nghĩa bởi tích của biến đầu vào và hàm Sigmoid. SiLU cung cấp tính phi tuyến mượt mà, giúp duy trì đạo hàm tốt hơn ReLU ở miền âm nhỏ, đẩy nhanh hội tụ mạng YOLOv8.</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Batch Normalization (BN): </a:t>
            </a:r>
            <a:r>
              <a:rPr sz="1400" b="0">
                <a:solidFill>
                  <a:srgbClr val="1E293B"/>
                </a:solidFill>
                <a:latin typeface="Calibri" panose="020F0502020204030204"/>
              </a:rPr>
              <a:t>Chuẩn hóa phân phối đầu ra của mỗi lớp tích chập, chống hiện tượng bùng nổ/triệt tiêu đạo hàm.</a:t>
            </a:r>
            <a:endParaRPr sz="1400" b="0">
              <a:solidFill>
                <a:srgbClr val="1E293B"/>
              </a:solidFill>
              <a:latin typeface="Calibri" panose="020F0502020204030204"/>
            </a:endParaRPr>
          </a:p>
        </p:txBody>
      </p:sp>
      <p:sp>
        <p:nvSpPr>
          <p:cNvPr id="6" name="Rounded Rectangle 5"/>
          <p:cNvSpPr/>
          <p:nvPr/>
        </p:nvSpPr>
        <p:spPr>
          <a:xfrm>
            <a:off x="6949440" y="1371600"/>
            <a:ext cx="4754880" cy="146304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01_conv2d.png"/>
          <p:cNvPicPr>
            <a:picLocks noChangeAspect="1"/>
          </p:cNvPicPr>
          <p:nvPr/>
        </p:nvPicPr>
        <p:blipFill>
          <a:blip r:embed="rId1"/>
          <a:stretch>
            <a:fillRect/>
          </a:stretch>
        </p:blipFill>
        <p:spPr>
          <a:xfrm>
            <a:off x="7132320" y="1463040"/>
            <a:ext cx="4389120" cy="1280160"/>
          </a:xfrm>
          <a:prstGeom prst="rect">
            <a:avLst/>
          </a:prstGeom>
        </p:spPr>
      </p:pic>
      <p:sp>
        <p:nvSpPr>
          <p:cNvPr id="8" name="Rounded Rectangle 7"/>
          <p:cNvSpPr/>
          <p:nvPr/>
        </p:nvSpPr>
        <p:spPr>
          <a:xfrm>
            <a:off x="6949440" y="3063240"/>
            <a:ext cx="4754880" cy="146304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02_silu.png"/>
          <p:cNvPicPr>
            <a:picLocks noChangeAspect="1"/>
          </p:cNvPicPr>
          <p:nvPr/>
        </p:nvPicPr>
        <p:blipFill>
          <a:blip r:embed="rId2"/>
          <a:stretch>
            <a:fillRect/>
          </a:stretch>
        </p:blipFill>
        <p:spPr>
          <a:xfrm>
            <a:off x="7132320" y="3154680"/>
            <a:ext cx="4389120" cy="1280160"/>
          </a:xfrm>
          <a:prstGeom prst="rect">
            <a:avLst/>
          </a:prstGeom>
        </p:spPr>
      </p:pic>
      <p:sp>
        <p:nvSpPr>
          <p:cNvPr id="10" name="Rounded Rectangle 9"/>
          <p:cNvSpPr/>
          <p:nvPr/>
        </p:nvSpPr>
        <p:spPr>
          <a:xfrm>
            <a:off x="6949440" y="4754880"/>
            <a:ext cx="4754880" cy="146304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03_bn.png"/>
          <p:cNvPicPr>
            <a:picLocks noChangeAspect="1"/>
          </p:cNvPicPr>
          <p:nvPr/>
        </p:nvPicPr>
        <p:blipFill>
          <a:blip r:embed="rId3"/>
          <a:stretch>
            <a:fillRect/>
          </a:stretch>
        </p:blipFill>
        <p:spPr>
          <a:xfrm>
            <a:off x="7132320" y="4846320"/>
            <a:ext cx="4389120" cy="12801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914400"/>
          </a:xfrm>
          <a:prstGeom prst="rect">
            <a:avLst/>
          </a:prstGeom>
          <a:noFill/>
        </p:spPr>
        <p:txBody>
          <a:bodyPr wrap="square" tIns="0" bIns="0">
            <a:spAutoFit/>
          </a:bodyPr>
          <a:lstStyle/>
          <a:p>
            <a:pPr>
              <a:spcAft>
                <a:spcPts val="200"/>
              </a:spcAft>
            </a:pPr>
            <a:r>
              <a:rPr sz="2600" b="1">
                <a:solidFill>
                  <a:srgbClr val="1E3A8A"/>
                </a:solidFill>
                <a:latin typeface="Arial" panose="020B0604020202020204"/>
              </a:rPr>
              <a:t>3. Cơ sở lý thuyết: Hệ thống hàm Loss trong YOLOv8</a:t>
            </a:r>
            <a:endParaRPr sz="2600" b="1">
              <a:solidFill>
                <a:srgbClr val="1E3A8A"/>
              </a:solidFill>
              <a:latin typeface="Arial" panose="020B0604020202020204"/>
            </a:endParaRPr>
          </a:p>
          <a:p>
            <a:r>
              <a:rPr sz="1400" i="1">
                <a:solidFill>
                  <a:srgbClr val="64748B"/>
                </a:solidFill>
                <a:latin typeface="Calibri" panose="020F0502020204030204"/>
              </a:rPr>
              <a:t>Cơ chế tối ưu hóa đa mục tiêu định vị và phân loại biển số</a:t>
            </a:r>
            <a:endParaRPr sz="1400" i="1">
              <a:solidFill>
                <a:srgbClr val="64748B"/>
              </a:solidFill>
              <a:latin typeface="Calibri" panose="020F0502020204030204"/>
            </a:endParaRPr>
          </a:p>
        </p:txBody>
      </p:sp>
      <p:sp>
        <p:nvSpPr>
          <p:cNvPr id="4" name="Rectangle 3"/>
          <p:cNvSpPr/>
          <p:nvPr/>
        </p:nvSpPr>
        <p:spPr>
          <a:xfrm>
            <a:off x="457200" y="1051560"/>
            <a:ext cx="11277295" cy="365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6217920" cy="4846320"/>
          </a:xfrm>
          <a:prstGeom prst="rect">
            <a:avLst/>
          </a:prstGeom>
          <a:noFill/>
        </p:spPr>
        <p:txBody>
          <a:bodyPr wrap="square" lIns="0" tIns="0" rIns="0" bIns="0">
            <a:spAutoFit/>
          </a:bodyPr>
          <a:lstStyle/>
          <a:p>
            <a:pPr>
              <a:spcBef>
                <a:spcPts val="200"/>
              </a:spcBef>
              <a:spcAft>
                <a:spcPts val="800"/>
              </a:spcAft>
            </a:pPr>
            <a:r>
              <a:rPr sz="1400" b="1">
                <a:solidFill>
                  <a:srgbClr val="1E3A8A"/>
                </a:solidFill>
                <a:latin typeface="Calibri" panose="020F0502020204030204"/>
              </a:rPr>
              <a:t>Hàm Loss tổng hợp (Total Loss): </a:t>
            </a:r>
            <a:r>
              <a:rPr sz="1400" b="0">
                <a:solidFill>
                  <a:srgbClr val="1E293B"/>
                </a:solidFill>
                <a:latin typeface="Calibri" panose="020F0502020204030204"/>
              </a:rPr>
              <a:t>Sự kết hợp tuyến tính của 3 thành phần Loss với các hệ số trọng số cân bằng: Box Loss (CIoU), Class Loss (BCE) và DFL Loss.</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CIoU Loss (Complete IoU): </a:t>
            </a:r>
            <a:r>
              <a:rPr sz="1400" b="0">
                <a:solidFill>
                  <a:srgbClr val="1E293B"/>
                </a:solidFill>
                <a:latin typeface="Calibri" panose="020F0502020204030204"/>
              </a:rPr>
              <a:t>Đánh giá sai khác bounding box bằng cách đo khoảng cách tâm, tỷ lệ diện tích chồng lấn (IoU) và tính nhất quán của tỷ lệ khung hình (aspect ratio).</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DFL Loss (Distribution Focal Loss): </a:t>
            </a:r>
            <a:r>
              <a:rPr sz="1400" b="0">
                <a:solidFill>
                  <a:srgbClr val="1E293B"/>
                </a:solidFill>
                <a:latin typeface="Calibri" panose="020F0502020204030204"/>
              </a:rPr>
              <a:t>Tập trung tối ưu hóa biên hộp bbox dưới dạng phân phối xác suất liên tục. Cực kỳ hiệu quả khi biển số bị mờ lóa hoặc cạnh hộp bị che khuất.</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Hệ số tối ưu hóa: </a:t>
            </a:r>
            <a:r>
              <a:rPr sz="1400" b="0">
                <a:solidFill>
                  <a:srgbClr val="1E293B"/>
                </a:solidFill>
                <a:latin typeface="Calibri" panose="020F0502020204030204"/>
              </a:rPr>
              <a:t>Trọng số thực tế sử dụng: λ_box = 7.5, λ_cls = 0.5, λ_dfl = 1.5.</a:t>
            </a:r>
            <a:endParaRPr sz="1400" b="0">
              <a:solidFill>
                <a:srgbClr val="1E293B"/>
              </a:solidFill>
              <a:latin typeface="Calibri" panose="020F0502020204030204"/>
            </a:endParaRPr>
          </a:p>
        </p:txBody>
      </p:sp>
      <p:sp>
        <p:nvSpPr>
          <p:cNvPr id="6" name="Rounded Rectangle 5"/>
          <p:cNvSpPr/>
          <p:nvPr/>
        </p:nvSpPr>
        <p:spPr>
          <a:xfrm>
            <a:off x="6949440" y="1371600"/>
            <a:ext cx="4754880" cy="146304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04_loss_total.png"/>
          <p:cNvPicPr>
            <a:picLocks noChangeAspect="1"/>
          </p:cNvPicPr>
          <p:nvPr/>
        </p:nvPicPr>
        <p:blipFill>
          <a:blip r:embed="rId1"/>
          <a:stretch>
            <a:fillRect/>
          </a:stretch>
        </p:blipFill>
        <p:spPr>
          <a:xfrm>
            <a:off x="7132320" y="1463040"/>
            <a:ext cx="4389120" cy="1280160"/>
          </a:xfrm>
          <a:prstGeom prst="rect">
            <a:avLst/>
          </a:prstGeom>
        </p:spPr>
      </p:pic>
      <p:sp>
        <p:nvSpPr>
          <p:cNvPr id="8" name="Rounded Rectangle 7"/>
          <p:cNvSpPr/>
          <p:nvPr/>
        </p:nvSpPr>
        <p:spPr>
          <a:xfrm>
            <a:off x="6949440" y="3063240"/>
            <a:ext cx="4754880" cy="146304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05_ciou.png"/>
          <p:cNvPicPr>
            <a:picLocks noChangeAspect="1"/>
          </p:cNvPicPr>
          <p:nvPr/>
        </p:nvPicPr>
        <p:blipFill>
          <a:blip r:embed="rId2"/>
          <a:stretch>
            <a:fillRect/>
          </a:stretch>
        </p:blipFill>
        <p:spPr>
          <a:xfrm>
            <a:off x="7132320" y="3154680"/>
            <a:ext cx="4389120" cy="1280160"/>
          </a:xfrm>
          <a:prstGeom prst="rect">
            <a:avLst/>
          </a:prstGeom>
        </p:spPr>
      </p:pic>
      <p:sp>
        <p:nvSpPr>
          <p:cNvPr id="10" name="Rounded Rectangle 9"/>
          <p:cNvSpPr/>
          <p:nvPr/>
        </p:nvSpPr>
        <p:spPr>
          <a:xfrm>
            <a:off x="6949440" y="4754880"/>
            <a:ext cx="4754880" cy="146304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06_dfl.png"/>
          <p:cNvPicPr>
            <a:picLocks noChangeAspect="1"/>
          </p:cNvPicPr>
          <p:nvPr/>
        </p:nvPicPr>
        <p:blipFill>
          <a:blip r:embed="rId3"/>
          <a:stretch>
            <a:fillRect/>
          </a:stretch>
        </p:blipFill>
        <p:spPr>
          <a:xfrm>
            <a:off x="7132320" y="4846320"/>
            <a:ext cx="4389120" cy="12801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914400"/>
          </a:xfrm>
          <a:prstGeom prst="rect">
            <a:avLst/>
          </a:prstGeom>
          <a:noFill/>
        </p:spPr>
        <p:txBody>
          <a:bodyPr wrap="square" tIns="0" bIns="0">
            <a:spAutoFit/>
          </a:bodyPr>
          <a:lstStyle/>
          <a:p>
            <a:pPr>
              <a:spcAft>
                <a:spcPts val="200"/>
              </a:spcAft>
            </a:pPr>
            <a:r>
              <a:rPr sz="2600" b="1">
                <a:solidFill>
                  <a:srgbClr val="1E3A8A"/>
                </a:solidFill>
                <a:latin typeface="Arial" panose="020B0604020202020204"/>
              </a:rPr>
              <a:t>4. Cơ sở lý thuyết: Các chỉ số Đánh giá Hiệu năng</a:t>
            </a:r>
            <a:endParaRPr sz="2600" b="1">
              <a:solidFill>
                <a:srgbClr val="1E3A8A"/>
              </a:solidFill>
              <a:latin typeface="Arial" panose="020B0604020202020204"/>
            </a:endParaRPr>
          </a:p>
          <a:p>
            <a:r>
              <a:rPr sz="1400" i="1">
                <a:solidFill>
                  <a:srgbClr val="64748B"/>
                </a:solidFill>
                <a:latin typeface="Calibri" panose="020F0502020204030204"/>
              </a:rPr>
              <a:t>Tiêu chuẩn đánh giá khoa học độ chính xác của mô hình học sâu</a:t>
            </a:r>
            <a:endParaRPr sz="1400" i="1">
              <a:solidFill>
                <a:srgbClr val="64748B"/>
              </a:solidFill>
              <a:latin typeface="Calibri" panose="020F0502020204030204"/>
            </a:endParaRPr>
          </a:p>
        </p:txBody>
      </p:sp>
      <p:sp>
        <p:nvSpPr>
          <p:cNvPr id="4" name="Rectangle 3"/>
          <p:cNvSpPr/>
          <p:nvPr/>
        </p:nvSpPr>
        <p:spPr>
          <a:xfrm>
            <a:off x="457200" y="1051560"/>
            <a:ext cx="11277295" cy="365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6217920" cy="4846320"/>
          </a:xfrm>
          <a:prstGeom prst="rect">
            <a:avLst/>
          </a:prstGeom>
          <a:noFill/>
        </p:spPr>
        <p:txBody>
          <a:bodyPr wrap="square" lIns="0" tIns="0" rIns="0" bIns="0">
            <a:spAutoFit/>
          </a:bodyPr>
          <a:lstStyle/>
          <a:p>
            <a:pPr>
              <a:spcBef>
                <a:spcPts val="200"/>
              </a:spcBef>
              <a:spcAft>
                <a:spcPts val="800"/>
              </a:spcAft>
            </a:pPr>
            <a:r>
              <a:rPr sz="1400" b="1">
                <a:solidFill>
                  <a:srgbClr val="1E3A8A"/>
                </a:solidFill>
                <a:latin typeface="Calibri" panose="020F0502020204030204"/>
              </a:rPr>
              <a:t>Precision (Độ chính xác): </a:t>
            </a:r>
            <a:r>
              <a:rPr sz="1400" b="0">
                <a:solidFill>
                  <a:srgbClr val="1E293B"/>
                </a:solidFill>
                <a:latin typeface="Calibri" panose="020F0502020204030204"/>
              </a:rPr>
              <a:t>Tỷ lệ số biển số xe nhận diện đúng trên tổng số biển số mà mô hình phát hiện ra. Tránh báo động giả (False Positive).</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Recall (Độ thu hồi): </a:t>
            </a:r>
            <a:r>
              <a:rPr sz="1400" b="0">
                <a:solidFill>
                  <a:srgbClr val="1E293B"/>
                </a:solidFill>
                <a:latin typeface="Calibri" panose="020F0502020204030204"/>
              </a:rPr>
              <a:t>Tỷ lệ số biển số xe nhận diện đúng trên tổng số biển số thực tế có trong ảnh. Tránh bỏ sót đối tượng (False Negative).</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mAP (Mean Average Precision): </a:t>
            </a:r>
            <a:r>
              <a:rPr sz="1400" b="0">
                <a:solidFill>
                  <a:srgbClr val="1E293B"/>
                </a:solidFill>
                <a:latin typeface="Calibri" panose="020F0502020204030204"/>
              </a:rPr>
              <a:t>Diện tích dưới đường cong Precision-Recall trung bình trên tất cả các lớp.</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mAP@50 và mAP@50-95: </a:t>
            </a:r>
            <a:r>
              <a:rPr sz="1400" b="0">
                <a:solidFill>
                  <a:srgbClr val="1E293B"/>
                </a:solidFill>
                <a:latin typeface="Calibri" panose="020F0502020204030204"/>
              </a:rPr>
              <a:t>Đo độ chính xác định vị ở ngưỡng IoU = 0.5 và ngưỡng IoU quét từ 0.5 đến 0.95 với bước nhảy 0.05.</a:t>
            </a:r>
            <a:endParaRPr sz="1400" b="0">
              <a:solidFill>
                <a:srgbClr val="1E293B"/>
              </a:solidFill>
              <a:latin typeface="Calibri" panose="020F0502020204030204"/>
            </a:endParaRPr>
          </a:p>
        </p:txBody>
      </p:sp>
      <p:sp>
        <p:nvSpPr>
          <p:cNvPr id="6" name="Rounded Rectangle 5"/>
          <p:cNvSpPr/>
          <p:nvPr/>
        </p:nvSpPr>
        <p:spPr>
          <a:xfrm>
            <a:off x="6949440" y="1645920"/>
            <a:ext cx="4754880" cy="201168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07_pr.png"/>
          <p:cNvPicPr>
            <a:picLocks noChangeAspect="1"/>
          </p:cNvPicPr>
          <p:nvPr/>
        </p:nvPicPr>
        <p:blipFill>
          <a:blip r:embed="rId1"/>
          <a:stretch>
            <a:fillRect/>
          </a:stretch>
        </p:blipFill>
        <p:spPr>
          <a:xfrm>
            <a:off x="7132320" y="1737360"/>
            <a:ext cx="4389120" cy="1828800"/>
          </a:xfrm>
          <a:prstGeom prst="rect">
            <a:avLst/>
          </a:prstGeom>
        </p:spPr>
      </p:pic>
      <p:sp>
        <p:nvSpPr>
          <p:cNvPr id="8" name="Rounded Rectangle 7"/>
          <p:cNvSpPr/>
          <p:nvPr/>
        </p:nvSpPr>
        <p:spPr>
          <a:xfrm>
            <a:off x="6949440" y="3931920"/>
            <a:ext cx="4754880" cy="201168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08_map.png"/>
          <p:cNvPicPr>
            <a:picLocks noChangeAspect="1"/>
          </p:cNvPicPr>
          <p:nvPr/>
        </p:nvPicPr>
        <p:blipFill>
          <a:blip r:embed="rId2"/>
          <a:stretch>
            <a:fillRect/>
          </a:stretch>
        </p:blipFill>
        <p:spPr>
          <a:xfrm>
            <a:off x="7132320" y="4023360"/>
            <a:ext cx="4389120" cy="1828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914400"/>
          </a:xfrm>
          <a:prstGeom prst="rect">
            <a:avLst/>
          </a:prstGeom>
          <a:noFill/>
        </p:spPr>
        <p:txBody>
          <a:bodyPr wrap="square" tIns="0" bIns="0">
            <a:spAutoFit/>
          </a:bodyPr>
          <a:lstStyle/>
          <a:p>
            <a:pPr>
              <a:spcAft>
                <a:spcPts val="200"/>
              </a:spcAft>
            </a:pPr>
            <a:r>
              <a:rPr sz="2600" b="1">
                <a:solidFill>
                  <a:srgbClr val="1E3A8A"/>
                </a:solidFill>
                <a:latin typeface="Arial" panose="020B0604020202020204"/>
              </a:rPr>
              <a:t>5. Cơ sở lý thuyết: Kalman Filter &amp; Xác suất Voting</a:t>
            </a:r>
            <a:endParaRPr sz="2600" b="1">
              <a:solidFill>
                <a:srgbClr val="1E3A8A"/>
              </a:solidFill>
              <a:latin typeface="Arial" panose="020B0604020202020204"/>
            </a:endParaRPr>
          </a:p>
          <a:p>
            <a:r>
              <a:rPr sz="1400" i="1">
                <a:solidFill>
                  <a:srgbClr val="64748B"/>
                </a:solidFill>
                <a:latin typeface="Calibri" panose="020F0502020204030204"/>
              </a:rPr>
              <a:t>Nền tảng toán học bảo vệ luồng dữ liệu bám vết và tối ưu hóa OCR</a:t>
            </a:r>
            <a:endParaRPr sz="1400" i="1">
              <a:solidFill>
                <a:srgbClr val="64748B"/>
              </a:solidFill>
              <a:latin typeface="Calibri" panose="020F0502020204030204"/>
            </a:endParaRPr>
          </a:p>
        </p:txBody>
      </p:sp>
      <p:sp>
        <p:nvSpPr>
          <p:cNvPr id="4" name="Rectangle 3"/>
          <p:cNvSpPr/>
          <p:nvPr/>
        </p:nvSpPr>
        <p:spPr>
          <a:xfrm>
            <a:off x="457200" y="1051560"/>
            <a:ext cx="11277295" cy="365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6217920" cy="4846320"/>
          </a:xfrm>
          <a:prstGeom prst="rect">
            <a:avLst/>
          </a:prstGeom>
          <a:noFill/>
        </p:spPr>
        <p:txBody>
          <a:bodyPr wrap="square" lIns="0" tIns="0" rIns="0" bIns="0">
            <a:spAutoFit/>
          </a:bodyPr>
          <a:lstStyle/>
          <a:p>
            <a:pPr>
              <a:spcBef>
                <a:spcPts val="200"/>
              </a:spcBef>
              <a:spcAft>
                <a:spcPts val="800"/>
              </a:spcAft>
            </a:pPr>
            <a:r>
              <a:rPr sz="1400" b="1">
                <a:solidFill>
                  <a:srgbClr val="1E3A8A"/>
                </a:solidFill>
                <a:latin typeface="Calibri" panose="020F0502020204030204"/>
              </a:rPr>
              <a:t>Kalman Filter (Bộ lọc Kalman): </a:t>
            </a:r>
            <a:r>
              <a:rPr sz="1400" b="0">
                <a:solidFill>
                  <a:srgbClr val="1E293B"/>
                </a:solidFill>
                <a:latin typeface="Calibri" panose="020F0502020204030204"/>
              </a:rPr>
              <a:t>Ước lượng trạng thái động học (tọa độ, tốc độ) của xe qua dự đoán và cập nhật lỗi đo lường. Giúp bám vết ổn định kể cả khi bị che khuất tạm thời.</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Cơ chế Voting Đa Khung hình: </a:t>
            </a:r>
            <a:r>
              <a:rPr sz="1400" b="0">
                <a:solidFill>
                  <a:srgbClr val="1E293B"/>
                </a:solidFill>
                <a:latin typeface="Calibri" panose="020F0502020204030204"/>
              </a:rPr>
              <a:t>Tích lũy kết quả OCR theo track_id qua nhiều khung hình liên tiếp và thực hiện bỏ phiếu đa số.</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Công thức xác suất hệ thống (Bernoulli): </a:t>
            </a:r>
            <a:r>
              <a:rPr sz="1400" b="0">
                <a:solidFill>
                  <a:srgbClr val="1E293B"/>
                </a:solidFill>
                <a:latin typeface="Calibri" panose="020F0502020204030204"/>
              </a:rPr>
              <a:t>Nếu xác suất nhận diện đúng của một khung hình đơn lẻ là p = 75%, với N = 5 khung hình và ngưỡng khóa K_min = 2 votes, xác suất nhận dạng chính xác của toàn hệ thống tăng vọt lên </a:t>
            </a:r>
            <a:r>
              <a:rPr sz="1400" b="1">
                <a:solidFill>
                  <a:srgbClr val="EA580C"/>
                </a:solidFill>
                <a:latin typeface="Calibri" panose="020F0502020204030204"/>
              </a:rPr>
              <a:t>98.4%</a:t>
            </a:r>
            <a:r>
              <a:rPr sz="1400" b="0">
                <a:solidFill>
                  <a:srgbClr val="1E293B"/>
                </a:solidFill>
                <a:latin typeface="Calibri" panose="020F0502020204030204"/>
              </a:rPr>
              <a:t>!</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Hiệu quả thực tế: </a:t>
            </a:r>
            <a:r>
              <a:rPr sz="1400" b="0">
                <a:solidFill>
                  <a:srgbClr val="1E293B"/>
                </a:solidFill>
                <a:latin typeface="Calibri" panose="020F0502020204030204"/>
              </a:rPr>
              <a:t>Cơ chế Voting lọc bỏ hoàn toàn các lỗi OCR ngẫu nhiên do góc lóa hoặc rung nhòe tức thời.</a:t>
            </a:r>
            <a:endParaRPr sz="1400" b="0">
              <a:solidFill>
                <a:srgbClr val="1E293B"/>
              </a:solidFill>
              <a:latin typeface="Calibri" panose="020F0502020204030204"/>
            </a:endParaRPr>
          </a:p>
        </p:txBody>
      </p:sp>
      <p:sp>
        <p:nvSpPr>
          <p:cNvPr id="6" name="Rounded Rectangle 5"/>
          <p:cNvSpPr/>
          <p:nvPr/>
        </p:nvSpPr>
        <p:spPr>
          <a:xfrm>
            <a:off x="6949440" y="1645920"/>
            <a:ext cx="4754880" cy="201168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09_kalman.png"/>
          <p:cNvPicPr>
            <a:picLocks noChangeAspect="1"/>
          </p:cNvPicPr>
          <p:nvPr/>
        </p:nvPicPr>
        <p:blipFill>
          <a:blip r:embed="rId1"/>
          <a:stretch>
            <a:fillRect/>
          </a:stretch>
        </p:blipFill>
        <p:spPr>
          <a:xfrm>
            <a:off x="7132320" y="1737360"/>
            <a:ext cx="4389120" cy="1828800"/>
          </a:xfrm>
          <a:prstGeom prst="rect">
            <a:avLst/>
          </a:prstGeom>
        </p:spPr>
      </p:pic>
      <p:sp>
        <p:nvSpPr>
          <p:cNvPr id="8" name="Rounded Rectangle 7"/>
          <p:cNvSpPr/>
          <p:nvPr/>
        </p:nvSpPr>
        <p:spPr>
          <a:xfrm>
            <a:off x="6949440" y="3931920"/>
            <a:ext cx="4754880" cy="201168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11_voting.png"/>
          <p:cNvPicPr>
            <a:picLocks noChangeAspect="1"/>
          </p:cNvPicPr>
          <p:nvPr/>
        </p:nvPicPr>
        <p:blipFill>
          <a:blip r:embed="rId2"/>
          <a:stretch>
            <a:fillRect/>
          </a:stretch>
        </p:blipFill>
        <p:spPr>
          <a:xfrm>
            <a:off x="7132320" y="4023360"/>
            <a:ext cx="4389120" cy="1828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914400"/>
          </a:xfrm>
          <a:prstGeom prst="rect">
            <a:avLst/>
          </a:prstGeom>
          <a:noFill/>
        </p:spPr>
        <p:txBody>
          <a:bodyPr wrap="square" tIns="0" bIns="0">
            <a:spAutoFit/>
          </a:bodyPr>
          <a:lstStyle/>
          <a:p>
            <a:pPr>
              <a:spcAft>
                <a:spcPts val="200"/>
              </a:spcAft>
            </a:pPr>
            <a:r>
              <a:rPr sz="2600" b="1">
                <a:solidFill>
                  <a:srgbClr val="1E3A8A"/>
                </a:solidFill>
                <a:latin typeface="Arial" panose="020B0604020202020204"/>
              </a:rPr>
              <a:t>6. Các nghiên cứu liên quan &amp; So sánh Baseline</a:t>
            </a:r>
            <a:endParaRPr sz="2600" b="1">
              <a:solidFill>
                <a:srgbClr val="1E3A8A"/>
              </a:solidFill>
              <a:latin typeface="Arial" panose="020B0604020202020204"/>
            </a:endParaRPr>
          </a:p>
          <a:p>
            <a:r>
              <a:rPr sz="1400" i="1">
                <a:solidFill>
                  <a:srgbClr val="64748B"/>
                </a:solidFill>
                <a:latin typeface="Calibri" panose="020F0502020204030204"/>
              </a:rPr>
              <a:t>Đặt giải pháp đề xuất trong bối cảnh các công trình hiện tại</a:t>
            </a:r>
            <a:endParaRPr sz="1400" i="1">
              <a:solidFill>
                <a:srgbClr val="64748B"/>
              </a:solidFill>
              <a:latin typeface="Calibri" panose="020F0502020204030204"/>
            </a:endParaRPr>
          </a:p>
        </p:txBody>
      </p:sp>
      <p:sp>
        <p:nvSpPr>
          <p:cNvPr id="4" name="Rectangle 3"/>
          <p:cNvSpPr/>
          <p:nvPr/>
        </p:nvSpPr>
        <p:spPr>
          <a:xfrm>
            <a:off x="457200" y="1051560"/>
            <a:ext cx="11277295" cy="365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5486400" cy="4846320"/>
          </a:xfrm>
          <a:prstGeom prst="rect">
            <a:avLst/>
          </a:prstGeom>
          <a:noFill/>
        </p:spPr>
        <p:txBody>
          <a:bodyPr wrap="square" lIns="0" tIns="0" rIns="0" bIns="0">
            <a:spAutoFit/>
          </a:bodyPr>
          <a:lstStyle/>
          <a:p>
            <a:pPr>
              <a:spcBef>
                <a:spcPts val="200"/>
              </a:spcBef>
              <a:spcAft>
                <a:spcPts val="800"/>
              </a:spcAft>
            </a:pPr>
            <a:r>
              <a:rPr sz="1400" b="1">
                <a:solidFill>
                  <a:srgbClr val="1E3A8A"/>
                </a:solidFill>
                <a:latin typeface="Calibri" panose="020F0502020204030204"/>
              </a:rPr>
              <a:t>Các phương pháp LPR truyền thống: </a:t>
            </a:r>
            <a:r>
              <a:rPr sz="1400" b="0">
                <a:solidFill>
                  <a:srgbClr val="1E293B"/>
                </a:solidFill>
                <a:latin typeface="Calibri" panose="020F0502020204030204"/>
              </a:rPr>
              <a:t>Sử dụng SSD/Faster R-CNN phát hiện biển số, kết hợp Tesseract OCR. Nhược điểm: Trễ rất lớn (&gt;200ms), Tesseract nhận diện tiếng Việt đặc thù cực kém.</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Mạng tích hợp End-to-End: </a:t>
            </a:r>
            <a:r>
              <a:rPr sz="1400" b="0">
                <a:solidFill>
                  <a:srgbClr val="1E293B"/>
                </a:solidFill>
                <a:latin typeface="Calibri" panose="020F0502020204030204"/>
              </a:rPr>
              <a:t>Ví dụ LPRNet hay các kiến trúc CRNN đọc chữ trực tiếp. Ưu điểm: Nhanh. Nhược điểm: Rất nhạy cảm với biển số nghiêng hoặc méo, tỷ lệ lỗi trên biển số 2 dòng Việt Nam rất cao.</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Giải pháp đề xuất (TrafficAI): </a:t>
            </a:r>
            <a:r>
              <a:rPr sz="1400" b="0">
                <a:solidFill>
                  <a:srgbClr val="1E293B"/>
                </a:solidFill>
                <a:latin typeface="Calibri" panose="020F0502020204030204"/>
              </a:rPr>
              <a:t>Kết hợp thế mạnh định vị chính xác của YOLOv8, bám vết đa đối tượng ByteTrack, tiền xử lý CLAHE cục bộ và bộ nhận diện EasyOCR đa ngôn ngữ được bảo vệ bởi 4 lớp hậu xử lý thông minh.</a:t>
            </a:r>
            <a:endParaRPr sz="1400" b="0">
              <a:solidFill>
                <a:srgbClr val="1E293B"/>
              </a:solidFill>
              <a:latin typeface="Calibri" panose="020F0502020204030204"/>
            </a:endParaRPr>
          </a:p>
        </p:txBody>
      </p:sp>
      <p:sp>
        <p:nvSpPr>
          <p:cNvPr id="6" name="Rounded Rectangle 5"/>
          <p:cNvSpPr/>
          <p:nvPr/>
        </p:nvSpPr>
        <p:spPr>
          <a:xfrm>
            <a:off x="6217920" y="1371600"/>
            <a:ext cx="5486400" cy="484632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309360" y="1554480"/>
          <a:ext cx="5303520" cy="4480560"/>
        </p:xfrm>
        <a:graphic>
          <a:graphicData uri="http://schemas.openxmlformats.org/drawingml/2006/table">
            <a:tbl>
              <a:tblPr firstRow="1" bandRow="1">
                <a:tableStyleId>{5C22544A-7EE6-4342-B048-85BDC9FD1C3A}</a:tableStyleId>
              </a:tblPr>
              <a:tblGrid>
                <a:gridCol w="1645920"/>
                <a:gridCol w="1188720"/>
                <a:gridCol w="1188720"/>
                <a:gridCol w="1280160"/>
              </a:tblGrid>
              <a:tr h="640080">
                <a:tc>
                  <a:txBody>
                    <a:bodyPr/>
                    <a:lstStyle/>
                    <a:p>
                      <a:pPr algn="ctr"/>
                      <a:r>
                        <a:rPr sz="1100" b="1">
                          <a:solidFill>
                            <a:srgbClr val="F1F5F9"/>
                          </a:solidFill>
                        </a:rPr>
                        <a:t>Giải pháp</a:t>
                      </a:r>
                      <a:endParaRPr sz="1100" b="1">
                        <a:solidFill>
                          <a:srgbClr val="F1F5F9"/>
                        </a:solidFill>
                      </a:endParaRPr>
                    </a:p>
                  </a:txBody>
                  <a:tcPr>
                    <a:solidFill>
                      <a:srgbClr val="1E3A8A"/>
                    </a:solidFill>
                  </a:tcPr>
                </a:tc>
                <a:tc>
                  <a:txBody>
                    <a:bodyPr/>
                    <a:lstStyle/>
                    <a:p>
                      <a:pPr algn="ctr"/>
                      <a:r>
                        <a:rPr sz="1100" b="1">
                          <a:solidFill>
                            <a:srgbClr val="F1F5F9"/>
                          </a:solidFill>
                        </a:rPr>
                        <a:t>Độ chính xác</a:t>
                      </a:r>
                      <a:endParaRPr sz="1100" b="1">
                        <a:solidFill>
                          <a:srgbClr val="F1F5F9"/>
                        </a:solidFill>
                      </a:endParaRPr>
                    </a:p>
                  </a:txBody>
                  <a:tcPr>
                    <a:solidFill>
                      <a:srgbClr val="1E3A8A"/>
                    </a:solidFill>
                  </a:tcPr>
                </a:tc>
                <a:tc>
                  <a:txBody>
                    <a:bodyPr/>
                    <a:lstStyle/>
                    <a:p>
                      <a:pPr algn="ctr"/>
                      <a:r>
                        <a:rPr sz="1100" b="1">
                          <a:solidFill>
                            <a:srgbClr val="F1F5F9"/>
                          </a:solidFill>
                        </a:rPr>
                        <a:t>Tốc độ CPU</a:t>
                      </a:r>
                      <a:endParaRPr sz="1100" b="1">
                        <a:solidFill>
                          <a:srgbClr val="F1F5F9"/>
                        </a:solidFill>
                      </a:endParaRPr>
                    </a:p>
                  </a:txBody>
                  <a:tcPr>
                    <a:solidFill>
                      <a:srgbClr val="1E3A8A"/>
                    </a:solidFill>
                  </a:tcPr>
                </a:tc>
                <a:tc>
                  <a:txBody>
                    <a:bodyPr/>
                    <a:lstStyle/>
                    <a:p>
                      <a:pPr algn="ctr"/>
                      <a:r>
                        <a:rPr sz="1100" b="1">
                          <a:solidFill>
                            <a:srgbClr val="F1F5F9"/>
                          </a:solidFill>
                        </a:rPr>
                        <a:t>Chống lóa</a:t>
                      </a:r>
                      <a:endParaRPr sz="1100" b="1">
                        <a:solidFill>
                          <a:srgbClr val="F1F5F9"/>
                        </a:solidFill>
                      </a:endParaRPr>
                    </a:p>
                  </a:txBody>
                  <a:tcPr>
                    <a:solidFill>
                      <a:srgbClr val="1E3A8A"/>
                    </a:solidFill>
                  </a:tcPr>
                </a:tc>
              </a:tr>
              <a:tr h="640080">
                <a:tc>
                  <a:txBody>
                    <a:bodyPr/>
                    <a:lstStyle/>
                    <a:p>
                      <a:pPr algn="ctr"/>
                      <a:r>
                        <a:rPr sz="1000">
                          <a:solidFill>
                            <a:srgbClr val="1E293B"/>
                          </a:solidFill>
                        </a:rPr>
                        <a:t>SSD + Tesseract</a:t>
                      </a:r>
                      <a:endParaRPr sz="1000">
                        <a:solidFill>
                          <a:srgbClr val="1E293B"/>
                        </a:solidFill>
                      </a:endParaRPr>
                    </a:p>
                  </a:txBody>
                  <a:tcPr>
                    <a:solidFill>
                      <a:srgbClr val="F1F5F9"/>
                    </a:solidFill>
                  </a:tcPr>
                </a:tc>
                <a:tc>
                  <a:txBody>
                    <a:bodyPr/>
                    <a:lstStyle/>
                    <a:p>
                      <a:pPr algn="ctr"/>
                      <a:r>
                        <a:rPr sz="1000">
                          <a:solidFill>
                            <a:srgbClr val="1E293B"/>
                          </a:solidFill>
                        </a:rPr>
                        <a:t>78.4%</a:t>
                      </a:r>
                      <a:endParaRPr sz="1000">
                        <a:solidFill>
                          <a:srgbClr val="1E293B"/>
                        </a:solidFill>
                      </a:endParaRPr>
                    </a:p>
                  </a:txBody>
                  <a:tcPr>
                    <a:solidFill>
                      <a:srgbClr val="F1F5F9"/>
                    </a:solidFill>
                  </a:tcPr>
                </a:tc>
                <a:tc>
                  <a:txBody>
                    <a:bodyPr/>
                    <a:lstStyle/>
                    <a:p>
                      <a:pPr algn="ctr"/>
                      <a:r>
                        <a:rPr sz="1000">
                          <a:solidFill>
                            <a:srgbClr val="1E293B"/>
                          </a:solidFill>
                        </a:rPr>
                        <a:t>8.5 FPS</a:t>
                      </a:r>
                      <a:endParaRPr sz="1000">
                        <a:solidFill>
                          <a:srgbClr val="1E293B"/>
                        </a:solidFill>
                      </a:endParaRPr>
                    </a:p>
                  </a:txBody>
                  <a:tcPr>
                    <a:solidFill>
                      <a:srgbClr val="F1F5F9"/>
                    </a:solidFill>
                  </a:tcPr>
                </a:tc>
                <a:tc>
                  <a:txBody>
                    <a:bodyPr/>
                    <a:lstStyle/>
                    <a:p>
                      <a:pPr algn="ctr"/>
                      <a:r>
                        <a:rPr sz="1000">
                          <a:solidFill>
                            <a:srgbClr val="1E293B"/>
                          </a:solidFill>
                        </a:rPr>
                        <a:t>Kém</a:t>
                      </a:r>
                      <a:endParaRPr sz="1000">
                        <a:solidFill>
                          <a:srgbClr val="1E293B"/>
                        </a:solidFill>
                      </a:endParaRPr>
                    </a:p>
                  </a:txBody>
                  <a:tcPr>
                    <a:solidFill>
                      <a:srgbClr val="F1F5F9"/>
                    </a:solidFill>
                  </a:tcPr>
                </a:tc>
              </a:tr>
              <a:tr h="640080">
                <a:tc>
                  <a:txBody>
                    <a:bodyPr/>
                    <a:lstStyle/>
                    <a:p>
                      <a:pPr algn="ctr"/>
                      <a:r>
                        <a:rPr sz="1000">
                          <a:solidFill>
                            <a:srgbClr val="1E293B"/>
                          </a:solidFill>
                        </a:rPr>
                        <a:t>YOLOv5 + LPRNet</a:t>
                      </a:r>
                      <a:endParaRPr sz="1000">
                        <a:solidFill>
                          <a:srgbClr val="1E293B"/>
                        </a:solidFill>
                      </a:endParaRPr>
                    </a:p>
                  </a:txBody>
                  <a:tcPr>
                    <a:solidFill>
                      <a:srgbClr val="F1F5F9"/>
                    </a:solidFill>
                  </a:tcPr>
                </a:tc>
                <a:tc>
                  <a:txBody>
                    <a:bodyPr/>
                    <a:lstStyle/>
                    <a:p>
                      <a:pPr algn="ctr"/>
                      <a:r>
                        <a:rPr sz="1000">
                          <a:solidFill>
                            <a:srgbClr val="1E293B"/>
                          </a:solidFill>
                        </a:rPr>
                        <a:t>85.2%</a:t>
                      </a:r>
                      <a:endParaRPr sz="1000">
                        <a:solidFill>
                          <a:srgbClr val="1E293B"/>
                        </a:solidFill>
                      </a:endParaRPr>
                    </a:p>
                  </a:txBody>
                  <a:tcPr>
                    <a:solidFill>
                      <a:srgbClr val="F1F5F9"/>
                    </a:solidFill>
                  </a:tcPr>
                </a:tc>
                <a:tc>
                  <a:txBody>
                    <a:bodyPr/>
                    <a:lstStyle/>
                    <a:p>
                      <a:pPr algn="ctr"/>
                      <a:r>
                        <a:rPr sz="1000">
                          <a:solidFill>
                            <a:srgbClr val="1E293B"/>
                          </a:solidFill>
                        </a:rPr>
                        <a:t>15.2 FPS</a:t>
                      </a:r>
                      <a:endParaRPr sz="1000">
                        <a:solidFill>
                          <a:srgbClr val="1E293B"/>
                        </a:solidFill>
                      </a:endParaRPr>
                    </a:p>
                  </a:txBody>
                  <a:tcPr>
                    <a:solidFill>
                      <a:srgbClr val="F1F5F9"/>
                    </a:solidFill>
                  </a:tcPr>
                </a:tc>
                <a:tc>
                  <a:txBody>
                    <a:bodyPr/>
                    <a:lstStyle/>
                    <a:p>
                      <a:pPr algn="ctr"/>
                      <a:r>
                        <a:rPr sz="1000">
                          <a:solidFill>
                            <a:srgbClr val="1E293B"/>
                          </a:solidFill>
                        </a:rPr>
                        <a:t>Kém</a:t>
                      </a:r>
                      <a:endParaRPr sz="1000">
                        <a:solidFill>
                          <a:srgbClr val="1E293B"/>
                        </a:solidFill>
                      </a:endParaRPr>
                    </a:p>
                  </a:txBody>
                  <a:tcPr>
                    <a:solidFill>
                      <a:srgbClr val="F1F5F9"/>
                    </a:solidFill>
                  </a:tcPr>
                </a:tc>
              </a:tr>
              <a:tr h="640080">
                <a:tc>
                  <a:txBody>
                    <a:bodyPr/>
                    <a:lstStyle/>
                    <a:p>
                      <a:pPr algn="ctr"/>
                      <a:r>
                        <a:rPr sz="1000">
                          <a:solidFill>
                            <a:srgbClr val="1E293B"/>
                          </a:solidFill>
                        </a:rPr>
                        <a:t>YOLOv7 + EasyOCR</a:t>
                      </a:r>
                      <a:endParaRPr sz="1000">
                        <a:solidFill>
                          <a:srgbClr val="1E293B"/>
                        </a:solidFill>
                      </a:endParaRPr>
                    </a:p>
                  </a:txBody>
                  <a:tcPr>
                    <a:solidFill>
                      <a:srgbClr val="F1F5F9"/>
                    </a:solidFill>
                  </a:tcPr>
                </a:tc>
                <a:tc>
                  <a:txBody>
                    <a:bodyPr/>
                    <a:lstStyle/>
                    <a:p>
                      <a:pPr algn="ctr"/>
                      <a:r>
                        <a:rPr sz="1000">
                          <a:solidFill>
                            <a:srgbClr val="1E293B"/>
                          </a:solidFill>
                        </a:rPr>
                        <a:t>91.0%</a:t>
                      </a:r>
                      <a:endParaRPr sz="1000">
                        <a:solidFill>
                          <a:srgbClr val="1E293B"/>
                        </a:solidFill>
                      </a:endParaRPr>
                    </a:p>
                  </a:txBody>
                  <a:tcPr>
                    <a:solidFill>
                      <a:srgbClr val="F1F5F9"/>
                    </a:solidFill>
                  </a:tcPr>
                </a:tc>
                <a:tc>
                  <a:txBody>
                    <a:bodyPr/>
                    <a:lstStyle/>
                    <a:p>
                      <a:pPr algn="ctr"/>
                      <a:r>
                        <a:rPr sz="1000">
                          <a:solidFill>
                            <a:srgbClr val="1E293B"/>
                          </a:solidFill>
                        </a:rPr>
                        <a:t>9.8 FPS</a:t>
                      </a:r>
                      <a:endParaRPr sz="1000">
                        <a:solidFill>
                          <a:srgbClr val="1E293B"/>
                        </a:solidFill>
                      </a:endParaRPr>
                    </a:p>
                  </a:txBody>
                  <a:tcPr>
                    <a:solidFill>
                      <a:srgbClr val="F1F5F9"/>
                    </a:solidFill>
                  </a:tcPr>
                </a:tc>
                <a:tc>
                  <a:txBody>
                    <a:bodyPr/>
                    <a:lstStyle/>
                    <a:p>
                      <a:pPr algn="ctr"/>
                      <a:r>
                        <a:rPr sz="1000">
                          <a:solidFill>
                            <a:srgbClr val="1E293B"/>
                          </a:solidFill>
                        </a:rPr>
                        <a:t>Trung bình</a:t>
                      </a:r>
                      <a:endParaRPr sz="1000">
                        <a:solidFill>
                          <a:srgbClr val="1E293B"/>
                        </a:solidFill>
                      </a:endParaRPr>
                    </a:p>
                  </a:txBody>
                  <a:tcPr>
                    <a:solidFill>
                      <a:srgbClr val="F1F5F9"/>
                    </a:solidFill>
                  </a:tcPr>
                </a:tc>
              </a:tr>
              <a:tr h="640080">
                <a:tc>
                  <a:txBody>
                    <a:bodyPr/>
                    <a:lstStyle/>
                    <a:p>
                      <a:pPr algn="ctr"/>
                      <a:r>
                        <a:rPr sz="1000">
                          <a:solidFill>
                            <a:srgbClr val="1E293B"/>
                          </a:solidFill>
                        </a:rPr>
                        <a:t>YOLOv8 + CRNN</a:t>
                      </a:r>
                      <a:endParaRPr sz="1000">
                        <a:solidFill>
                          <a:srgbClr val="1E293B"/>
                        </a:solidFill>
                      </a:endParaRPr>
                    </a:p>
                  </a:txBody>
                  <a:tcPr>
                    <a:solidFill>
                      <a:srgbClr val="F1F5F9"/>
                    </a:solidFill>
                  </a:tcPr>
                </a:tc>
                <a:tc>
                  <a:txBody>
                    <a:bodyPr/>
                    <a:lstStyle/>
                    <a:p>
                      <a:pPr algn="ctr"/>
                      <a:r>
                        <a:rPr sz="1000">
                          <a:solidFill>
                            <a:srgbClr val="1E293B"/>
                          </a:solidFill>
                        </a:rPr>
                        <a:t>89.6%</a:t>
                      </a:r>
                      <a:endParaRPr sz="1000">
                        <a:solidFill>
                          <a:srgbClr val="1E293B"/>
                        </a:solidFill>
                      </a:endParaRPr>
                    </a:p>
                  </a:txBody>
                  <a:tcPr>
                    <a:solidFill>
                      <a:srgbClr val="F1F5F9"/>
                    </a:solidFill>
                  </a:tcPr>
                </a:tc>
                <a:tc>
                  <a:txBody>
                    <a:bodyPr/>
                    <a:lstStyle/>
                    <a:p>
                      <a:pPr algn="ctr"/>
                      <a:r>
                        <a:rPr sz="1000">
                          <a:solidFill>
                            <a:srgbClr val="1E293B"/>
                          </a:solidFill>
                        </a:rPr>
                        <a:t>18.4 FPS</a:t>
                      </a:r>
                      <a:endParaRPr sz="1000">
                        <a:solidFill>
                          <a:srgbClr val="1E293B"/>
                        </a:solidFill>
                      </a:endParaRPr>
                    </a:p>
                  </a:txBody>
                  <a:tcPr>
                    <a:solidFill>
                      <a:srgbClr val="F1F5F9"/>
                    </a:solidFill>
                  </a:tcPr>
                </a:tc>
                <a:tc>
                  <a:txBody>
                    <a:bodyPr/>
                    <a:lstStyle/>
                    <a:p>
                      <a:pPr algn="ctr"/>
                      <a:r>
                        <a:rPr sz="1000">
                          <a:solidFill>
                            <a:srgbClr val="1E293B"/>
                          </a:solidFill>
                        </a:rPr>
                        <a:t>Yếu</a:t>
                      </a:r>
                      <a:endParaRPr sz="1000">
                        <a:solidFill>
                          <a:srgbClr val="1E293B"/>
                        </a:solidFill>
                      </a:endParaRPr>
                    </a:p>
                  </a:txBody>
                  <a:tcPr>
                    <a:solidFill>
                      <a:srgbClr val="F1F5F9"/>
                    </a:solidFill>
                  </a:tcPr>
                </a:tc>
              </a:tr>
              <a:tr h="640080">
                <a:tc>
                  <a:txBody>
                    <a:bodyPr/>
                    <a:lstStyle/>
                    <a:p>
                      <a:pPr algn="ctr"/>
                      <a:r>
                        <a:rPr sz="1000" b="1">
                          <a:solidFill>
                            <a:srgbClr val="EA580C"/>
                          </a:solidFill>
                        </a:rPr>
                        <a:t>Hệ thống đề xuất</a:t>
                      </a:r>
                      <a:endParaRPr sz="1000" b="1">
                        <a:solidFill>
                          <a:srgbClr val="EA580C"/>
                        </a:solidFill>
                      </a:endParaRPr>
                    </a:p>
                  </a:txBody>
                  <a:tcPr>
                    <a:solidFill>
                      <a:srgbClr val="FEF3C7"/>
                    </a:solidFill>
                  </a:tcPr>
                </a:tc>
                <a:tc>
                  <a:txBody>
                    <a:bodyPr/>
                    <a:lstStyle/>
                    <a:p>
                      <a:pPr algn="ctr"/>
                      <a:r>
                        <a:rPr sz="1000" b="1">
                          <a:solidFill>
                            <a:srgbClr val="EA580C"/>
                          </a:solidFill>
                        </a:rPr>
                        <a:t>98.17%</a:t>
                      </a:r>
                      <a:endParaRPr sz="1000" b="1">
                        <a:solidFill>
                          <a:srgbClr val="EA580C"/>
                        </a:solidFill>
                      </a:endParaRPr>
                    </a:p>
                  </a:txBody>
                  <a:tcPr>
                    <a:solidFill>
                      <a:srgbClr val="FEF3C7"/>
                    </a:solidFill>
                  </a:tcPr>
                </a:tc>
                <a:tc>
                  <a:txBody>
                    <a:bodyPr/>
                    <a:lstStyle/>
                    <a:p>
                      <a:pPr algn="ctr"/>
                      <a:r>
                        <a:rPr sz="1000" b="1">
                          <a:solidFill>
                            <a:srgbClr val="EA580C"/>
                          </a:solidFill>
                        </a:rPr>
                        <a:t>22.4 FPS</a:t>
                      </a:r>
                      <a:endParaRPr sz="1000" b="1">
                        <a:solidFill>
                          <a:srgbClr val="EA580C"/>
                        </a:solidFill>
                      </a:endParaRPr>
                    </a:p>
                  </a:txBody>
                  <a:tcPr>
                    <a:solidFill>
                      <a:srgbClr val="FEF3C7"/>
                    </a:solidFill>
                  </a:tcPr>
                </a:tc>
                <a:tc>
                  <a:txBody>
                    <a:bodyPr/>
                    <a:lstStyle/>
                    <a:p>
                      <a:pPr algn="ctr"/>
                      <a:r>
                        <a:rPr sz="1000" b="1">
                          <a:solidFill>
                            <a:srgbClr val="EA580C"/>
                          </a:solidFill>
                        </a:rPr>
                        <a:t>Rất tốt</a:t>
                      </a:r>
                      <a:endParaRPr sz="1000" b="1">
                        <a:solidFill>
                          <a:srgbClr val="EA580C"/>
                        </a:solidFill>
                      </a:endParaRPr>
                    </a:p>
                  </a:txBody>
                  <a:tcPr>
                    <a:solidFill>
                      <a:srgbClr val="FEF3C7"/>
                    </a:solidFill>
                  </a:tcPr>
                </a:tc>
              </a:tr>
              <a:tr h="640080">
                <a:tc>
                  <a:txBody>
                    <a:bodyPr/>
                    <a:lstStyle/>
                    <a:p>
                      <a:pPr algn="ctr"/>
                      <a:r>
                        <a:rPr sz="1000" b="1">
                          <a:solidFill>
                            <a:srgbClr val="EA580C"/>
                          </a:solidFill>
                        </a:rPr>
                        <a:t>(TrafficAI đề xuất)</a:t>
                      </a:r>
                      <a:endParaRPr sz="1000" b="1">
                        <a:solidFill>
                          <a:srgbClr val="EA580C"/>
                        </a:solidFill>
                      </a:endParaRPr>
                    </a:p>
                  </a:txBody>
                  <a:tcPr>
                    <a:solidFill>
                      <a:srgbClr val="F1F5F9"/>
                    </a:solidFill>
                  </a:tcPr>
                </a:tc>
                <a:tc>
                  <a:txBody>
                    <a:bodyPr/>
                    <a:lstStyle/>
                    <a:p>
                      <a:pPr algn="ctr"/>
                      <a:r>
                        <a:rPr sz="1000" b="1">
                          <a:solidFill>
                            <a:srgbClr val="EA580C"/>
                          </a:solidFill>
                        </a:rPr>
                        <a:t>(Chỉ số mAP)</a:t>
                      </a:r>
                      <a:endParaRPr sz="1000" b="1">
                        <a:solidFill>
                          <a:srgbClr val="EA580C"/>
                        </a:solidFill>
                      </a:endParaRPr>
                    </a:p>
                  </a:txBody>
                  <a:tcPr>
                    <a:solidFill>
                      <a:srgbClr val="F1F5F9"/>
                    </a:solidFill>
                  </a:tcPr>
                </a:tc>
                <a:tc>
                  <a:txBody>
                    <a:bodyPr/>
                    <a:lstStyle/>
                    <a:p>
                      <a:pPr algn="ctr"/>
                      <a:r>
                        <a:rPr sz="1000" b="1">
                          <a:solidFill>
                            <a:srgbClr val="EA580C"/>
                          </a:solidFill>
                        </a:rPr>
                        <a:t>(OpenVINO)</a:t>
                      </a:r>
                      <a:endParaRPr sz="1000" b="1">
                        <a:solidFill>
                          <a:srgbClr val="EA580C"/>
                        </a:solidFill>
                      </a:endParaRPr>
                    </a:p>
                  </a:txBody>
                  <a:tcPr>
                    <a:solidFill>
                      <a:srgbClr val="F1F5F9"/>
                    </a:solidFill>
                  </a:tcPr>
                </a:tc>
                <a:tc>
                  <a:txBody>
                    <a:bodyPr/>
                    <a:lstStyle/>
                    <a:p>
                      <a:pPr algn="ctr"/>
                      <a:r>
                        <a:rPr sz="1000" b="1">
                          <a:solidFill>
                            <a:srgbClr val="EA580C"/>
                          </a:solidFill>
                        </a:rPr>
                        <a:t>(CLAHE + Voting)</a:t>
                      </a:r>
                      <a:endParaRPr sz="1000" b="1">
                        <a:solidFill>
                          <a:srgbClr val="EA580C"/>
                        </a:solidFill>
                      </a:endParaRPr>
                    </a:p>
                  </a:txBody>
                  <a:tcPr>
                    <a:solidFill>
                      <a:srgbClr val="F1F5F9"/>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914400"/>
          </a:xfrm>
          <a:prstGeom prst="rect">
            <a:avLst/>
          </a:prstGeom>
          <a:noFill/>
        </p:spPr>
        <p:txBody>
          <a:bodyPr wrap="square" tIns="0" bIns="0">
            <a:spAutoFit/>
          </a:bodyPr>
          <a:lstStyle/>
          <a:p>
            <a:pPr>
              <a:spcAft>
                <a:spcPts val="200"/>
              </a:spcAft>
            </a:pPr>
            <a:r>
              <a:rPr sz="2600" b="1">
                <a:solidFill>
                  <a:srgbClr val="1E3A8A"/>
                </a:solidFill>
                <a:latin typeface="Arial" panose="020B0604020202020204"/>
              </a:rPr>
              <a:t>7. Kiến trúc Pipeline Xử lý Video Đa luồng</a:t>
            </a:r>
            <a:endParaRPr sz="2600" b="1">
              <a:solidFill>
                <a:srgbClr val="1E3A8A"/>
              </a:solidFill>
              <a:latin typeface="Arial" panose="020B0604020202020204"/>
            </a:endParaRPr>
          </a:p>
          <a:p>
            <a:r>
              <a:rPr sz="1400" i="1">
                <a:solidFill>
                  <a:srgbClr val="64748B"/>
                </a:solidFill>
                <a:latin typeface="Calibri" panose="020F0502020204030204"/>
              </a:rPr>
              <a:t>Giải pháp Producer-Consumer tối ưu trễ và tránh nghẽn bộ nhớ</a:t>
            </a:r>
            <a:endParaRPr sz="1400" i="1">
              <a:solidFill>
                <a:srgbClr val="64748B"/>
              </a:solidFill>
              <a:latin typeface="Calibri" panose="020F0502020204030204"/>
            </a:endParaRPr>
          </a:p>
        </p:txBody>
      </p:sp>
      <p:sp>
        <p:nvSpPr>
          <p:cNvPr id="4" name="Rectangle 3"/>
          <p:cNvSpPr/>
          <p:nvPr/>
        </p:nvSpPr>
        <p:spPr>
          <a:xfrm>
            <a:off x="457200" y="1051560"/>
            <a:ext cx="11277295" cy="365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6400800" cy="4846320"/>
          </a:xfrm>
          <a:prstGeom prst="rect">
            <a:avLst/>
          </a:prstGeom>
          <a:noFill/>
        </p:spPr>
        <p:txBody>
          <a:bodyPr wrap="square" lIns="0" tIns="0" rIns="0" bIns="0">
            <a:spAutoFit/>
          </a:bodyPr>
          <a:lstStyle/>
          <a:p>
            <a:pPr>
              <a:spcBef>
                <a:spcPts val="200"/>
              </a:spcBef>
              <a:spcAft>
                <a:spcPts val="800"/>
              </a:spcAft>
            </a:pPr>
            <a:r>
              <a:rPr sz="1500" b="1">
                <a:solidFill>
                  <a:srgbClr val="1E3A8A"/>
                </a:solidFill>
                <a:latin typeface="Calibri" panose="020F0502020204030204"/>
              </a:rPr>
              <a:t>Mô hình Producer-Consumer đa luồng: </a:t>
            </a:r>
            <a:r>
              <a:rPr sz="1500" b="0">
                <a:solidFill>
                  <a:srgbClr val="1E293B"/>
                </a:solidFill>
                <a:latin typeface="Calibri" panose="020F0502020204030204"/>
              </a:rPr>
              <a:t>Đảm bảo an toàn bộ nhớ (memory-safe) và hoạt động mượt mà thời gian thực.</a:t>
            </a:r>
            <a:endParaRPr sz="1500" b="0">
              <a:solidFill>
                <a:srgbClr val="1E293B"/>
              </a:solidFill>
              <a:latin typeface="Calibri" panose="020F0502020204030204"/>
            </a:endParaRPr>
          </a:p>
          <a:p>
            <a:pPr>
              <a:spcBef>
                <a:spcPts val="200"/>
              </a:spcBef>
              <a:spcAft>
                <a:spcPts val="800"/>
              </a:spcAft>
            </a:pPr>
            <a:r>
              <a:rPr sz="1500" b="1">
                <a:solidFill>
                  <a:srgbClr val="1E3A8A"/>
                </a:solidFill>
                <a:latin typeface="Calibri" panose="020F0502020204030204"/>
              </a:rPr>
              <a:t>VideoWorker Thread (Producer): </a:t>
            </a:r>
            <a:r>
              <a:rPr sz="1500" b="0">
                <a:solidFill>
                  <a:srgbClr val="1E293B"/>
                </a:solidFill>
                <a:latin typeface="Calibri" panose="020F0502020204030204"/>
              </a:rPr>
              <a:t>Đọc các khung hình liên tục từ luồng video/camera và đẩy vào hàng đợi giới hạn frame_queue (maxsize=10).</a:t>
            </a:r>
            <a:endParaRPr sz="1500" b="0">
              <a:solidFill>
                <a:srgbClr val="1E293B"/>
              </a:solidFill>
              <a:latin typeface="Calibri" panose="020F0502020204030204"/>
            </a:endParaRPr>
          </a:p>
          <a:p>
            <a:pPr>
              <a:spcBef>
                <a:spcPts val="200"/>
              </a:spcBef>
              <a:spcAft>
                <a:spcPts val="800"/>
              </a:spcAft>
            </a:pPr>
            <a:r>
              <a:rPr sz="1500" b="1">
                <a:solidFill>
                  <a:srgbClr val="1E3A8A"/>
                </a:solidFill>
                <a:latin typeface="Calibri" panose="020F0502020204030204"/>
              </a:rPr>
              <a:t>ProcessorWorker Thread (Consumer): </a:t>
            </a:r>
            <a:r>
              <a:rPr sz="1500" b="0">
                <a:solidFill>
                  <a:srgbClr val="1E293B"/>
                </a:solidFill>
                <a:latin typeface="Calibri" panose="020F0502020204030204"/>
              </a:rPr>
              <a:t>Rút khung hình ra xử lý AI (YOLOv8 + ByteTrack + EasyOCR) và đẩy kết quả vào output_queue.</a:t>
            </a:r>
            <a:endParaRPr sz="1500" b="0">
              <a:solidFill>
                <a:srgbClr val="1E293B"/>
              </a:solidFill>
              <a:latin typeface="Calibri" panose="020F0502020204030204"/>
            </a:endParaRPr>
          </a:p>
          <a:p>
            <a:pPr>
              <a:spcBef>
                <a:spcPts val="200"/>
              </a:spcBef>
              <a:spcAft>
                <a:spcPts val="800"/>
              </a:spcAft>
            </a:pPr>
            <a:r>
              <a:rPr sz="1500" b="1">
                <a:solidFill>
                  <a:srgbClr val="1E3A8A"/>
                </a:solidFill>
                <a:latin typeface="Calibri" panose="020F0502020204030204"/>
              </a:rPr>
              <a:t>Main Thread (Render &amp; Save): </a:t>
            </a:r>
            <a:r>
              <a:rPr sz="1500" b="0">
                <a:solidFill>
                  <a:srgbClr val="1E293B"/>
                </a:solidFill>
                <a:latin typeface="Calibri" panose="020F0502020204030204"/>
              </a:rPr>
              <a:t>Lấy kết quả đã xử lý để vẽ bounding box overlay và lưu/xuất luồng video đầu ra.</a:t>
            </a:r>
            <a:endParaRPr sz="1500" b="0">
              <a:solidFill>
                <a:srgbClr val="1E293B"/>
              </a:solidFill>
              <a:latin typeface="Calibri" panose="020F0502020204030204"/>
            </a:endParaRPr>
          </a:p>
        </p:txBody>
      </p:sp>
      <p:pic>
        <p:nvPicPr>
          <p:cNvPr id="6" name="Picture 5" descr="diag_pipeline.png"/>
          <p:cNvPicPr>
            <a:picLocks noChangeAspect="1"/>
          </p:cNvPicPr>
          <p:nvPr/>
        </p:nvPicPr>
        <p:blipFill>
          <a:blip r:embed="rId1"/>
          <a:stretch>
            <a:fillRect/>
          </a:stretch>
        </p:blipFill>
        <p:spPr>
          <a:xfrm>
            <a:off x="7589520" y="1371600"/>
            <a:ext cx="4114800" cy="48463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914400"/>
          </a:xfrm>
          <a:prstGeom prst="rect">
            <a:avLst/>
          </a:prstGeom>
          <a:noFill/>
        </p:spPr>
        <p:txBody>
          <a:bodyPr wrap="square" tIns="0" bIns="0">
            <a:spAutoFit/>
          </a:bodyPr>
          <a:lstStyle/>
          <a:p>
            <a:pPr>
              <a:spcAft>
                <a:spcPts val="200"/>
              </a:spcAft>
            </a:pPr>
            <a:r>
              <a:rPr sz="2600" b="1">
                <a:solidFill>
                  <a:srgbClr val="1E3A8A"/>
                </a:solidFill>
                <a:latin typeface="Arial" panose="020B0604020202020204"/>
              </a:rPr>
              <a:t>8. Sơ đồ Kiến trúc Hệ thống Tổng thể</a:t>
            </a:r>
            <a:endParaRPr sz="2600" b="1">
              <a:solidFill>
                <a:srgbClr val="1E3A8A"/>
              </a:solidFill>
              <a:latin typeface="Arial" panose="020B0604020202020204"/>
            </a:endParaRPr>
          </a:p>
          <a:p>
            <a:r>
              <a:rPr sz="1400" i="1">
                <a:solidFill>
                  <a:srgbClr val="64748B"/>
                </a:solidFill>
                <a:latin typeface="Calibri" panose="020F0502020204030204"/>
              </a:rPr>
              <a:t>Tích hợp hoàn hảo giữa luồng xử lý AI biên và Web Backend quản trị</a:t>
            </a:r>
            <a:endParaRPr sz="1400" i="1">
              <a:solidFill>
                <a:srgbClr val="64748B"/>
              </a:solidFill>
              <a:latin typeface="Calibri" panose="020F0502020204030204"/>
            </a:endParaRPr>
          </a:p>
        </p:txBody>
      </p:sp>
      <p:sp>
        <p:nvSpPr>
          <p:cNvPr id="4" name="Rectangle 3"/>
          <p:cNvSpPr/>
          <p:nvPr/>
        </p:nvSpPr>
        <p:spPr>
          <a:xfrm>
            <a:off x="457200" y="1051560"/>
            <a:ext cx="11277295" cy="365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_system.png"/>
          <p:cNvPicPr>
            <a:picLocks noChangeAspect="1"/>
          </p:cNvPicPr>
          <p:nvPr/>
        </p:nvPicPr>
        <p:blipFill>
          <a:blip r:embed="rId1"/>
          <a:stretch>
            <a:fillRect/>
          </a:stretch>
        </p:blipFill>
        <p:spPr>
          <a:xfrm>
            <a:off x="457200" y="1371600"/>
            <a:ext cx="6583680" cy="4846320"/>
          </a:xfrm>
          <a:prstGeom prst="rect">
            <a:avLst/>
          </a:prstGeom>
        </p:spPr>
      </p:pic>
      <p:sp>
        <p:nvSpPr>
          <p:cNvPr id="6" name="TextBox 5"/>
          <p:cNvSpPr txBox="1"/>
          <p:nvPr/>
        </p:nvSpPr>
        <p:spPr>
          <a:xfrm>
            <a:off x="7406640" y="1645920"/>
            <a:ext cx="4297680" cy="4572000"/>
          </a:xfrm>
          <a:prstGeom prst="rect">
            <a:avLst/>
          </a:prstGeom>
          <a:noFill/>
        </p:spPr>
        <p:txBody>
          <a:bodyPr wrap="square" lIns="0" tIns="0" rIns="0" bIns="0">
            <a:spAutoFit/>
          </a:bodyPr>
          <a:lstStyle/>
          <a:p>
            <a:pPr>
              <a:spcBef>
                <a:spcPts val="200"/>
              </a:spcBef>
              <a:spcAft>
                <a:spcPts val="800"/>
              </a:spcAft>
            </a:pPr>
            <a:r>
              <a:rPr sz="1500" b="1">
                <a:solidFill>
                  <a:srgbClr val="1E3A8A"/>
                </a:solidFill>
                <a:latin typeface="Calibri" panose="020F0502020204030204"/>
              </a:rPr>
              <a:t>Liên kết chặt chẽ qua REST API: </a:t>
            </a:r>
            <a:r>
              <a:rPr sz="1500" b="0">
                <a:solidFill>
                  <a:srgbClr val="1E293B"/>
                </a:solidFill>
                <a:latin typeface="Calibri" panose="020F0502020204030204"/>
              </a:rPr>
              <a:t>ProcessorWorker sau khi nhận diện thành công sẽ gọi POST tới FastAPI Server qua cổng nội bộ `/api/internal/notify`.</a:t>
            </a:r>
            <a:endParaRPr sz="1500" b="0">
              <a:solidFill>
                <a:srgbClr val="1E293B"/>
              </a:solidFill>
              <a:latin typeface="Calibri" panose="020F0502020204030204"/>
            </a:endParaRPr>
          </a:p>
          <a:p>
            <a:pPr>
              <a:spcBef>
                <a:spcPts val="200"/>
              </a:spcBef>
              <a:spcAft>
                <a:spcPts val="800"/>
              </a:spcAft>
            </a:pPr>
            <a:r>
              <a:rPr sz="1500" b="1">
                <a:solidFill>
                  <a:srgbClr val="1E3A8A"/>
                </a:solidFill>
                <a:latin typeface="Calibri" panose="020F0502020204030204"/>
              </a:rPr>
              <a:t>WebSocket real-time push: </a:t>
            </a:r>
            <a:r>
              <a:rPr sz="1500" b="0">
                <a:solidFill>
                  <a:srgbClr val="1E293B"/>
                </a:solidFill>
                <a:latin typeface="Calibri" panose="020F0502020204030204"/>
              </a:rPr>
              <a:t>FastAPI Server lập tức phát tín hiệu WebSocket truyền trực tiếp dữ liệu sự kiện thời gian thực lên giao diện quản trị Dashboard UI.</a:t>
            </a:r>
            <a:endParaRPr sz="1500" b="0">
              <a:solidFill>
                <a:srgbClr val="1E293B"/>
              </a:solidFill>
              <a:latin typeface="Calibri" panose="020F0502020204030204"/>
            </a:endParaRPr>
          </a:p>
          <a:p>
            <a:pPr>
              <a:spcBef>
                <a:spcPts val="200"/>
              </a:spcBef>
              <a:spcAft>
                <a:spcPts val="800"/>
              </a:spcAft>
            </a:pPr>
            <a:r>
              <a:rPr sz="1500" b="1">
                <a:solidFill>
                  <a:srgbClr val="1E3A8A"/>
                </a:solidFill>
                <a:latin typeface="Calibri" panose="020F0502020204030204"/>
              </a:rPr>
              <a:t>SQLite3 Database lưu trữ: </a:t>
            </a:r>
            <a:r>
              <a:rPr sz="1500" b="0">
                <a:solidFill>
                  <a:srgbClr val="1E293B"/>
                </a:solidFill>
                <a:latin typeface="Calibri" panose="020F0502020204030204"/>
              </a:rPr>
              <a:t>Hệ thống lưu trữ lịch sử nhận diện xe, ảnh cắt biển số (crop_path), package cước phí, trạng thái thanh toán và danh sách đen (Blacklist).</a:t>
            </a:r>
            <a:endParaRPr sz="1500" b="0">
              <a:solidFill>
                <a:srgbClr val="1E293B"/>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914400"/>
          </a:xfrm>
          <a:prstGeom prst="rect">
            <a:avLst/>
          </a:prstGeom>
          <a:noFill/>
        </p:spPr>
        <p:txBody>
          <a:bodyPr wrap="square" tIns="0" bIns="0">
            <a:spAutoFit/>
          </a:bodyPr>
          <a:lstStyle/>
          <a:p>
            <a:pPr>
              <a:spcAft>
                <a:spcPts val="200"/>
              </a:spcAft>
            </a:pPr>
            <a:r>
              <a:rPr sz="2600" b="1">
                <a:solidFill>
                  <a:srgbClr val="1E3A8A"/>
                </a:solidFill>
                <a:latin typeface="Arial" panose="020B0604020202020204"/>
              </a:rPr>
              <a:t>9. Thiết kế Cơ sở Dữ liệu Hệ thống</a:t>
            </a:r>
            <a:endParaRPr sz="2600" b="1">
              <a:solidFill>
                <a:srgbClr val="1E3A8A"/>
              </a:solidFill>
              <a:latin typeface="Arial" panose="020B0604020202020204"/>
            </a:endParaRPr>
          </a:p>
          <a:p>
            <a:r>
              <a:rPr sz="1400" i="1">
                <a:solidFill>
                  <a:srgbClr val="64748B"/>
                </a:solidFill>
                <a:latin typeface="Calibri" panose="020F0502020204030204"/>
              </a:rPr>
              <a:t>Mô hình quan hệ thực thể tối ưu hóa truy vấn lịch sử giám sát giao thông</a:t>
            </a:r>
            <a:endParaRPr sz="1400" i="1">
              <a:solidFill>
                <a:srgbClr val="64748B"/>
              </a:solidFill>
              <a:latin typeface="Calibri" panose="020F0502020204030204"/>
            </a:endParaRPr>
          </a:p>
        </p:txBody>
      </p:sp>
      <p:sp>
        <p:nvSpPr>
          <p:cNvPr id="4" name="Rectangle 3"/>
          <p:cNvSpPr/>
          <p:nvPr/>
        </p:nvSpPr>
        <p:spPr>
          <a:xfrm>
            <a:off x="457200" y="1051560"/>
            <a:ext cx="11277295" cy="365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6217920" cy="4846320"/>
          </a:xfrm>
          <a:prstGeom prst="rect">
            <a:avLst/>
          </a:prstGeom>
          <a:noFill/>
        </p:spPr>
        <p:txBody>
          <a:bodyPr wrap="square" lIns="0" tIns="0" rIns="0" bIns="0">
            <a:spAutoFit/>
          </a:bodyPr>
          <a:lstStyle/>
          <a:p>
            <a:pPr>
              <a:spcBef>
                <a:spcPts val="200"/>
              </a:spcBef>
              <a:spcAft>
                <a:spcPts val="800"/>
              </a:spcAft>
            </a:pPr>
            <a:r>
              <a:rPr sz="1400" b="1">
                <a:solidFill>
                  <a:srgbClr val="1E3A8A"/>
                </a:solidFill>
                <a:latin typeface="Calibri" panose="020F0502020204030204"/>
              </a:rPr>
              <a:t>Bảng chính 'detections': </a:t>
            </a:r>
            <a:r>
              <a:rPr sz="1400" b="0">
                <a:solidFill>
                  <a:srgbClr val="1E293B"/>
                </a:solidFill>
                <a:latin typeface="Calibri" panose="020F0502020204030204"/>
              </a:rPr>
              <a:t>Lưu trữ thông tin chi tiết từng sự kiện phát hiện biển số xe.</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Trạng thái thanh toán (status): </a:t>
            </a:r>
            <a:r>
              <a:rPr sz="1400" b="0">
                <a:solidFill>
                  <a:srgbClr val="1E293B"/>
                </a:solidFill>
                <a:latin typeface="Calibri" panose="020F0502020204030204"/>
              </a:rPr>
              <a:t>Hỗ trợ quản lý cước phí đỗ xe tự động (PAID / UNPAID).</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Lưu vết ảnh (crop_path): </a:t>
            </a:r>
            <a:r>
              <a:rPr sz="1400" b="0">
                <a:solidFill>
                  <a:srgbClr val="1E293B"/>
                </a:solidFill>
                <a:latin typeface="Calibri" panose="020F0502020204030204"/>
              </a:rPr>
              <a:t>Đường dẫn lưu ảnh cắt biển số thu nhỏ phục vụ đối chứng thủ công.</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Bảng 'blacklist' liên kết: </a:t>
            </a:r>
            <a:r>
              <a:rPr sz="1400" b="0">
                <a:solidFill>
                  <a:srgbClr val="1E293B"/>
                </a:solidFill>
                <a:latin typeface="Calibri" panose="020F0502020204030204"/>
              </a:rPr>
              <a:t>Danh sách đen các phương tiện vi phạm hoặc xe bị mất cắp. Tự động kích hoạt còi cảnh báo khi phát hiện trùng khớp `license_plate`.</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Chỉ mục tối ưu hóa (Index): </a:t>
            </a:r>
            <a:r>
              <a:rPr sz="1400" b="0">
                <a:solidFill>
                  <a:srgbClr val="1E293B"/>
                </a:solidFill>
                <a:latin typeface="Calibri" panose="020F0502020204030204"/>
              </a:rPr>
              <a:t>Tạo INDEX trên cột `license_plate` và `timestamp` để tăng tốc độ tìm kiếm lịch sử cước xe từ 150ms xuống còn &lt; 5ms.</a:t>
            </a:r>
            <a:endParaRPr sz="1400" b="0">
              <a:solidFill>
                <a:srgbClr val="1E293B"/>
              </a:solidFill>
              <a:latin typeface="Calibri" panose="020F0502020204030204"/>
            </a:endParaRPr>
          </a:p>
        </p:txBody>
      </p:sp>
      <p:pic>
        <p:nvPicPr>
          <p:cNvPr id="6" name="Picture 5" descr="diag_db_schema.png"/>
          <p:cNvPicPr>
            <a:picLocks noChangeAspect="1"/>
          </p:cNvPicPr>
          <p:nvPr/>
        </p:nvPicPr>
        <p:blipFill>
          <a:blip r:embed="rId1"/>
          <a:stretch>
            <a:fillRect/>
          </a:stretch>
        </p:blipFill>
        <p:spPr>
          <a:xfrm>
            <a:off x="6858000" y="1371600"/>
            <a:ext cx="4846320" cy="48463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914400"/>
          </a:xfrm>
          <a:prstGeom prst="rect">
            <a:avLst/>
          </a:prstGeom>
          <a:noFill/>
        </p:spPr>
        <p:txBody>
          <a:bodyPr wrap="square" tIns="0" bIns="0">
            <a:spAutoFit/>
          </a:bodyPr>
          <a:lstStyle/>
          <a:p>
            <a:pPr>
              <a:spcAft>
                <a:spcPts val="200"/>
              </a:spcAft>
            </a:pPr>
            <a:r>
              <a:rPr sz="2600" b="1">
                <a:solidFill>
                  <a:srgbClr val="1E3A8A"/>
                </a:solidFill>
                <a:latin typeface="Arial" panose="020B0604020202020204"/>
              </a:rPr>
              <a:t>10. Kiến trúc Nhận diện Biển số YOLOv8</a:t>
            </a:r>
            <a:endParaRPr sz="2600" b="1">
              <a:solidFill>
                <a:srgbClr val="1E3A8A"/>
              </a:solidFill>
              <a:latin typeface="Arial" panose="020B0604020202020204"/>
            </a:endParaRPr>
          </a:p>
          <a:p>
            <a:r>
              <a:rPr sz="1400" i="1">
                <a:solidFill>
                  <a:srgbClr val="64748B"/>
                </a:solidFill>
                <a:latin typeface="Calibri" panose="020F0502020204030204"/>
              </a:rPr>
              <a:t>Mô hình học sâu tối ưu hóa trích xuất đặc trưng đa tỉ lệ</a:t>
            </a:r>
            <a:endParaRPr sz="1400" i="1">
              <a:solidFill>
                <a:srgbClr val="64748B"/>
              </a:solidFill>
              <a:latin typeface="Calibri" panose="020F0502020204030204"/>
            </a:endParaRPr>
          </a:p>
        </p:txBody>
      </p:sp>
      <p:sp>
        <p:nvSpPr>
          <p:cNvPr id="4" name="Rectangle 3"/>
          <p:cNvSpPr/>
          <p:nvPr/>
        </p:nvSpPr>
        <p:spPr>
          <a:xfrm>
            <a:off x="457200" y="1051560"/>
            <a:ext cx="11277295" cy="365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6217920" cy="4846320"/>
          </a:xfrm>
          <a:prstGeom prst="rect">
            <a:avLst/>
          </a:prstGeom>
          <a:noFill/>
        </p:spPr>
        <p:txBody>
          <a:bodyPr wrap="square" lIns="0" tIns="0" rIns="0" bIns="0">
            <a:spAutoFit/>
          </a:bodyPr>
          <a:lstStyle/>
          <a:p>
            <a:pPr>
              <a:spcBef>
                <a:spcPts val="200"/>
              </a:spcBef>
              <a:spcAft>
                <a:spcPts val="800"/>
              </a:spcAft>
            </a:pPr>
            <a:r>
              <a:rPr sz="1400" b="1">
                <a:solidFill>
                  <a:srgbClr val="1E3A8A"/>
                </a:solidFill>
                <a:latin typeface="Calibri" panose="020F0502020204030204"/>
              </a:rPr>
              <a:t>Mạng Backbone CSP-Darknet: </a:t>
            </a:r>
            <a:r>
              <a:rPr sz="1400" b="0">
                <a:solidFill>
                  <a:srgbClr val="1E293B"/>
                </a:solidFill>
                <a:latin typeface="Calibri" panose="020F0502020204030204"/>
              </a:rPr>
              <a:t>Trích xuất đặc trưng ngữ cảnh sâu ở 3 tỉ lệ khác nhau (stride 8/16/32).</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Khối SPPF (Spatial Pyramid Pooling): </a:t>
            </a:r>
            <a:r>
              <a:rPr sz="1400" b="0">
                <a:solidFill>
                  <a:srgbClr val="1E293B"/>
                </a:solidFill>
                <a:latin typeface="Calibri" panose="020F0502020204030204"/>
              </a:rPr>
              <a:t>Tích hợp đặc trưng đa kích thước đầu vào mà không làm giảm tốc độ suy luận.</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FPN + PAN Neck: </a:t>
            </a:r>
            <a:r>
              <a:rPr sz="1400" b="0">
                <a:solidFill>
                  <a:srgbClr val="1E293B"/>
                </a:solidFill>
                <a:latin typeface="Calibri" panose="020F0502020204030204"/>
              </a:rPr>
              <a:t>Mạng kim tự tháp đặc trưng hai chiều kết hợp ngược-xuôi, giúp hòa trộn thông tin ngữ cảnh nông và sâu hoàn hảo.</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Decoupled Head &amp; DFL Loss: </a:t>
            </a:r>
            <a:r>
              <a:rPr sz="1400" b="0">
                <a:solidFill>
                  <a:srgbClr val="1E293B"/>
                </a:solidFill>
                <a:latin typeface="Calibri" panose="020F0502020204030204"/>
              </a:rPr>
              <a:t>Tách biệt nhánh phân loại và định vị bounding box. Áp dụng Distribution Focal Loss (DFL) giúp xác định cạnh hộp chính xác vượt trội.</a:t>
            </a:r>
            <a:endParaRPr sz="1400" b="0">
              <a:solidFill>
                <a:srgbClr val="1E293B"/>
              </a:solidFill>
              <a:latin typeface="Calibri" panose="020F0502020204030204"/>
            </a:endParaRPr>
          </a:p>
        </p:txBody>
      </p:sp>
      <p:pic>
        <p:nvPicPr>
          <p:cNvPr id="6" name="Picture 5" descr="diag_yolo_arch.png"/>
          <p:cNvPicPr>
            <a:picLocks noChangeAspect="1"/>
          </p:cNvPicPr>
          <p:nvPr/>
        </p:nvPicPr>
        <p:blipFill>
          <a:blip r:embed="rId1"/>
          <a:stretch>
            <a:fillRect/>
          </a:stretch>
        </p:blipFill>
        <p:spPr>
          <a:xfrm>
            <a:off x="7040880" y="1371600"/>
            <a:ext cx="4663440" cy="48463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914400"/>
          </a:xfrm>
          <a:prstGeom prst="rect">
            <a:avLst/>
          </a:prstGeom>
          <a:noFill/>
        </p:spPr>
        <p:txBody>
          <a:bodyPr wrap="square" tIns="0" bIns="0">
            <a:spAutoFit/>
          </a:bodyPr>
          <a:lstStyle/>
          <a:p>
            <a:pPr>
              <a:spcAft>
                <a:spcPts val="200"/>
              </a:spcAft>
            </a:pPr>
            <a:r>
              <a:rPr sz="2600" b="1">
                <a:solidFill>
                  <a:srgbClr val="1E3A8A"/>
                </a:solidFill>
                <a:latin typeface="Arial" panose="020B0604020202020204"/>
              </a:rPr>
              <a:t>11. Bộ dữ liệu &amp; Siêu tham số Huấn luyện</a:t>
            </a:r>
            <a:endParaRPr sz="2600" b="1">
              <a:solidFill>
                <a:srgbClr val="1E3A8A"/>
              </a:solidFill>
              <a:latin typeface="Arial" panose="020B0604020202020204"/>
            </a:endParaRPr>
          </a:p>
          <a:p>
            <a:r>
              <a:rPr sz="1400" i="1">
                <a:solidFill>
                  <a:srgbClr val="64748B"/>
                </a:solidFill>
                <a:latin typeface="Calibri" panose="020F0502020204030204"/>
              </a:rPr>
              <a:t>Chuẩn bị tập dữ liệu đa dạng và áp dụng chiến lược augmentation mạnh</a:t>
            </a:r>
            <a:endParaRPr sz="1400" i="1">
              <a:solidFill>
                <a:srgbClr val="64748B"/>
              </a:solidFill>
              <a:latin typeface="Calibri" panose="020F0502020204030204"/>
            </a:endParaRPr>
          </a:p>
        </p:txBody>
      </p:sp>
      <p:sp>
        <p:nvSpPr>
          <p:cNvPr id="4" name="Rectangle 3"/>
          <p:cNvSpPr/>
          <p:nvPr/>
        </p:nvSpPr>
        <p:spPr>
          <a:xfrm>
            <a:off x="457200" y="1051560"/>
            <a:ext cx="11277295" cy="365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5394960" cy="484632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4846320" cy="4297680"/>
          </a:xfrm>
          <a:prstGeom prst="rect">
            <a:avLst/>
          </a:prstGeom>
          <a:noFill/>
        </p:spPr>
        <p:txBody>
          <a:bodyPr wrap="square" lIns="0" tIns="0" rIns="0" bIns="0">
            <a:spAutoFit/>
          </a:bodyPr>
          <a:lstStyle/>
          <a:p>
            <a:pPr>
              <a:spcBef>
                <a:spcPts val="200"/>
              </a:spcBef>
              <a:spcAft>
                <a:spcPts val="800"/>
              </a:spcAft>
            </a:pPr>
            <a:r>
              <a:rPr sz="1500" b="1">
                <a:solidFill>
                  <a:srgbClr val="1E3A8A"/>
                </a:solidFill>
                <a:latin typeface="Calibri" panose="020F0502020204030204"/>
              </a:rPr>
              <a:t>Tổng cộng bộ dữ liệu: </a:t>
            </a:r>
            <a:r>
              <a:rPr sz="1500" b="0">
                <a:solidFill>
                  <a:srgbClr val="1E293B"/>
                </a:solidFill>
                <a:latin typeface="Calibri" panose="020F0502020204030204"/>
              </a:rPr>
              <a:t>~8.500 ảnh biển số xe đa dạng của Việt Nam.</a:t>
            </a:r>
            <a:endParaRPr sz="1500" b="0">
              <a:solidFill>
                <a:srgbClr val="1E293B"/>
              </a:solidFill>
              <a:latin typeface="Calibri" panose="020F0502020204030204"/>
            </a:endParaRPr>
          </a:p>
          <a:p>
            <a:pPr>
              <a:spcBef>
                <a:spcPts val="200"/>
              </a:spcBef>
              <a:spcAft>
                <a:spcPts val="800"/>
              </a:spcAft>
            </a:pPr>
            <a:r>
              <a:rPr sz="1500" b="1">
                <a:solidFill>
                  <a:srgbClr val="1E3A8A"/>
                </a:solidFill>
                <a:latin typeface="Calibri" panose="020F0502020204030204"/>
              </a:rPr>
              <a:t>Tập Huấn luyện (Train): </a:t>
            </a:r>
            <a:r>
              <a:rPr sz="1500" b="0">
                <a:solidFill>
                  <a:srgbClr val="1E293B"/>
                </a:solidFill>
                <a:latin typeface="Calibri" panose="020F0502020204030204"/>
              </a:rPr>
              <a:t>~7.000 ảnh đã được tăng cường dữ liệu (Data Augmentation) mạnh mẽ.</a:t>
            </a:r>
            <a:endParaRPr sz="1500" b="0">
              <a:solidFill>
                <a:srgbClr val="1E293B"/>
              </a:solidFill>
              <a:latin typeface="Calibri" panose="020F0502020204030204"/>
            </a:endParaRPr>
          </a:p>
          <a:p>
            <a:pPr>
              <a:spcBef>
                <a:spcPts val="200"/>
              </a:spcBef>
              <a:spcAft>
                <a:spcPts val="800"/>
              </a:spcAft>
            </a:pPr>
            <a:r>
              <a:rPr sz="1500" b="1">
                <a:solidFill>
                  <a:srgbClr val="1E3A8A"/>
                </a:solidFill>
                <a:latin typeface="Calibri" panose="020F0502020204030204"/>
              </a:rPr>
              <a:t>Tập Kiểm thử (Val set): </a:t>
            </a:r>
            <a:r>
              <a:rPr sz="1500" b="0">
                <a:solidFill>
                  <a:srgbClr val="1E293B"/>
                </a:solidFill>
                <a:latin typeface="Calibri" panose="020F0502020204030204"/>
              </a:rPr>
              <a:t>~1.000 ảnh thực tế không tăng cường để đánh giá khách quan.</a:t>
            </a:r>
            <a:endParaRPr sz="1500" b="0">
              <a:solidFill>
                <a:srgbClr val="1E293B"/>
              </a:solidFill>
              <a:latin typeface="Calibri" panose="020F0502020204030204"/>
            </a:endParaRPr>
          </a:p>
          <a:p>
            <a:pPr>
              <a:spcBef>
                <a:spcPts val="200"/>
              </a:spcBef>
              <a:spcAft>
                <a:spcPts val="800"/>
              </a:spcAft>
            </a:pPr>
            <a:r>
              <a:rPr sz="1500" b="1">
                <a:solidFill>
                  <a:srgbClr val="1E3A8A"/>
                </a:solidFill>
                <a:latin typeface="Calibri" panose="020F0502020204030204"/>
              </a:rPr>
              <a:t>Tập Test Video thực tế: </a:t>
            </a:r>
            <a:r>
              <a:rPr sz="1500" b="0">
                <a:solidFill>
                  <a:srgbClr val="1E293B"/>
                </a:solidFill>
                <a:latin typeface="Calibri" panose="020F0502020204030204"/>
              </a:rPr>
              <a:t>~500 khung hình video ghi hình thực tế trên đường cao tốc Việt Nam.</a:t>
            </a:r>
            <a:endParaRPr sz="1500" b="0">
              <a:solidFill>
                <a:srgbClr val="1E293B"/>
              </a:solidFill>
              <a:latin typeface="Calibri" panose="020F0502020204030204"/>
            </a:endParaRPr>
          </a:p>
        </p:txBody>
      </p:sp>
      <p:sp>
        <p:nvSpPr>
          <p:cNvPr id="7" name="Rounded Rectangle 6"/>
          <p:cNvSpPr/>
          <p:nvPr/>
        </p:nvSpPr>
        <p:spPr>
          <a:xfrm>
            <a:off x="6309360" y="1371600"/>
            <a:ext cx="5394960" cy="484632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645920"/>
            <a:ext cx="4846320" cy="4297680"/>
          </a:xfrm>
          <a:prstGeom prst="rect">
            <a:avLst/>
          </a:prstGeom>
          <a:noFill/>
        </p:spPr>
        <p:txBody>
          <a:bodyPr wrap="square" lIns="0" tIns="0" rIns="0" bIns="0">
            <a:spAutoFit/>
          </a:bodyPr>
          <a:lstStyle/>
          <a:p>
            <a:pPr>
              <a:spcBef>
                <a:spcPts val="200"/>
              </a:spcBef>
              <a:spcAft>
                <a:spcPts val="800"/>
              </a:spcAft>
            </a:pPr>
            <a:r>
              <a:rPr sz="1500" b="1">
                <a:solidFill>
                  <a:srgbClr val="EA580C"/>
                </a:solidFill>
                <a:latin typeface="Calibri" panose="020F0502020204030204"/>
              </a:rPr>
              <a:t>Epoch huấn luyện: </a:t>
            </a:r>
            <a:r>
              <a:rPr sz="1500" b="0">
                <a:solidFill>
                  <a:srgbClr val="1E293B"/>
                </a:solidFill>
                <a:latin typeface="Calibri" panose="020F0502020204030204"/>
              </a:rPr>
              <a:t>30 epochs, Batch size = 16.</a:t>
            </a:r>
            <a:endParaRPr sz="1500" b="0">
              <a:solidFill>
                <a:srgbClr val="1E293B"/>
              </a:solidFill>
              <a:latin typeface="Calibri" panose="020F0502020204030204"/>
            </a:endParaRPr>
          </a:p>
          <a:p>
            <a:pPr>
              <a:spcBef>
                <a:spcPts val="200"/>
              </a:spcBef>
              <a:spcAft>
                <a:spcPts val="800"/>
              </a:spcAft>
            </a:pPr>
            <a:r>
              <a:rPr sz="1500" b="1">
                <a:solidFill>
                  <a:srgbClr val="EA580C"/>
                </a:solidFill>
                <a:latin typeface="Calibri" panose="020F0502020204030204"/>
              </a:rPr>
              <a:t>Kích thước ảnh đầu vào: </a:t>
            </a:r>
            <a:r>
              <a:rPr sz="1500" b="0">
                <a:solidFill>
                  <a:srgbClr val="1E293B"/>
                </a:solidFill>
                <a:latin typeface="Calibri" panose="020F0502020204030204"/>
              </a:rPr>
              <a:t>640x640 pixels.</a:t>
            </a:r>
            <a:endParaRPr sz="1500" b="0">
              <a:solidFill>
                <a:srgbClr val="1E293B"/>
              </a:solidFill>
              <a:latin typeface="Calibri" panose="020F0502020204030204"/>
            </a:endParaRPr>
          </a:p>
          <a:p>
            <a:pPr>
              <a:spcBef>
                <a:spcPts val="200"/>
              </a:spcBef>
              <a:spcAft>
                <a:spcPts val="800"/>
              </a:spcAft>
            </a:pPr>
            <a:r>
              <a:rPr sz="1500" b="1">
                <a:solidFill>
                  <a:srgbClr val="EA580C"/>
                </a:solidFill>
                <a:latin typeface="Calibri" panose="020F0502020204030204"/>
              </a:rPr>
              <a:t>Optimizer &amp; Learning Rate: </a:t>
            </a:r>
            <a:r>
              <a:rPr sz="1500" b="0">
                <a:solidFill>
                  <a:srgbClr val="1E293B"/>
                </a:solidFill>
                <a:latin typeface="Calibri" panose="020F0502020204030204"/>
              </a:rPr>
              <a:t>SGD (tự động) + Warmup 3 epoch. lr0 = 0.01, lrf = 0.01.</a:t>
            </a:r>
            <a:endParaRPr sz="1500" b="0">
              <a:solidFill>
                <a:srgbClr val="1E293B"/>
              </a:solidFill>
              <a:latin typeface="Calibri" panose="020F0502020204030204"/>
            </a:endParaRPr>
          </a:p>
          <a:p>
            <a:pPr>
              <a:spcBef>
                <a:spcPts val="200"/>
              </a:spcBef>
              <a:spcAft>
                <a:spcPts val="800"/>
              </a:spcAft>
            </a:pPr>
            <a:r>
              <a:rPr sz="1500" b="1">
                <a:solidFill>
                  <a:srgbClr val="EA580C"/>
                </a:solidFill>
                <a:latin typeface="Calibri" panose="020F0502020204030204"/>
              </a:rPr>
              <a:t>Phương pháp Augmentation: </a:t>
            </a:r>
            <a:r>
              <a:rPr sz="1500" b="0">
                <a:solidFill>
                  <a:srgbClr val="1E293B"/>
                </a:solidFill>
                <a:latin typeface="Calibri" panose="020F0502020204030204"/>
              </a:rPr>
              <a:t>Mosaic, Flip LR (p=0.5), HSV-H/S/V, RandAugment, Random Erasing (p=0.4) giúp mô hình chống Overfitting cực tốt.</a:t>
            </a:r>
            <a:endParaRPr sz="1500" b="0">
              <a:solidFill>
                <a:srgbClr val="1E293B"/>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914400"/>
          </a:xfrm>
          <a:prstGeom prst="rect">
            <a:avLst/>
          </a:prstGeom>
          <a:noFill/>
        </p:spPr>
        <p:txBody>
          <a:bodyPr wrap="square" tIns="0" bIns="0">
            <a:spAutoFit/>
          </a:bodyPr>
          <a:lstStyle/>
          <a:p>
            <a:pPr>
              <a:spcAft>
                <a:spcPts val="200"/>
              </a:spcAft>
            </a:pPr>
            <a:r>
              <a:rPr sz="2600" b="1">
                <a:solidFill>
                  <a:srgbClr val="1E3A8A"/>
                </a:solidFill>
                <a:latin typeface="Arial" panose="020B0604020202020204"/>
              </a:rPr>
              <a:t>12. Kết quả huấn luyện &amp; Curves</a:t>
            </a:r>
            <a:endParaRPr sz="2600" b="1">
              <a:solidFill>
                <a:srgbClr val="1E3A8A"/>
              </a:solidFill>
              <a:latin typeface="Arial" panose="020B0604020202020204"/>
            </a:endParaRPr>
          </a:p>
          <a:p>
            <a:r>
              <a:rPr sz="1400" i="1">
                <a:solidFill>
                  <a:srgbClr val="64748B"/>
                </a:solidFill>
                <a:latin typeface="Calibri" panose="020F0502020204030204"/>
              </a:rPr>
              <a:t>Đánh giá sự hội tụ hàm Loss và các chỉ số Metrics Validation thực tế</a:t>
            </a:r>
            <a:endParaRPr sz="1400" i="1">
              <a:solidFill>
                <a:srgbClr val="64748B"/>
              </a:solidFill>
              <a:latin typeface="Calibri" panose="020F0502020204030204"/>
            </a:endParaRPr>
          </a:p>
        </p:txBody>
      </p:sp>
      <p:sp>
        <p:nvSpPr>
          <p:cNvPr id="4" name="Rectangle 3"/>
          <p:cNvSpPr/>
          <p:nvPr/>
        </p:nvSpPr>
        <p:spPr>
          <a:xfrm>
            <a:off x="457200" y="1051560"/>
            <a:ext cx="11277295" cy="365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rt_loss.png"/>
          <p:cNvPicPr>
            <a:picLocks noChangeAspect="1"/>
          </p:cNvPicPr>
          <p:nvPr/>
        </p:nvPicPr>
        <p:blipFill>
          <a:blip r:embed="rId1"/>
          <a:stretch>
            <a:fillRect/>
          </a:stretch>
        </p:blipFill>
        <p:spPr>
          <a:xfrm>
            <a:off x="457200" y="1371600"/>
            <a:ext cx="5486400" cy="3840480"/>
          </a:xfrm>
          <a:prstGeom prst="rect">
            <a:avLst/>
          </a:prstGeom>
        </p:spPr>
      </p:pic>
      <p:pic>
        <p:nvPicPr>
          <p:cNvPr id="6" name="Picture 5" descr="chart_metrics.png"/>
          <p:cNvPicPr>
            <a:picLocks noChangeAspect="1"/>
          </p:cNvPicPr>
          <p:nvPr/>
        </p:nvPicPr>
        <p:blipFill>
          <a:blip r:embed="rId2"/>
          <a:stretch>
            <a:fillRect/>
          </a:stretch>
        </p:blipFill>
        <p:spPr>
          <a:xfrm>
            <a:off x="6217920" y="1371600"/>
            <a:ext cx="5486400" cy="3840480"/>
          </a:xfrm>
          <a:prstGeom prst="rect">
            <a:avLst/>
          </a:prstGeom>
        </p:spPr>
      </p:pic>
      <p:sp>
        <p:nvSpPr>
          <p:cNvPr id="7" name="Rounded Rectangle 6"/>
          <p:cNvSpPr/>
          <p:nvPr/>
        </p:nvSpPr>
        <p:spPr>
          <a:xfrm>
            <a:off x="457200" y="5394960"/>
            <a:ext cx="11277295" cy="91440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623560"/>
            <a:ext cx="10728655" cy="548640"/>
          </a:xfrm>
          <a:prstGeom prst="rect">
            <a:avLst/>
          </a:prstGeom>
          <a:noFill/>
        </p:spPr>
        <p:txBody>
          <a:bodyPr wrap="square" lIns="0" tIns="0" rIns="0" bIns="0">
            <a:spAutoFit/>
          </a:bodyPr>
          <a:lstStyle/>
          <a:p>
            <a:pPr>
              <a:spcBef>
                <a:spcPts val="200"/>
              </a:spcBef>
              <a:spcAft>
                <a:spcPts val="800"/>
              </a:spcAft>
            </a:pPr>
            <a:r>
              <a:rPr sz="1600" b="1">
                <a:solidFill>
                  <a:srgbClr val="1E3A8A"/>
                </a:solidFill>
                <a:latin typeface="Calibri" panose="020F0502020204030204"/>
              </a:rPr>
              <a:t>Chỉ số đỉnh cao đạt được tại Epoch 23:   </a:t>
            </a:r>
            <a:r>
              <a:rPr sz="1500" b="0">
                <a:solidFill>
                  <a:srgbClr val="1E293B"/>
                </a:solidFill>
                <a:latin typeface="Calibri" panose="020F0502020204030204"/>
              </a:rPr>
              <a:t>mAP@50 đạt </a:t>
            </a:r>
            <a:r>
              <a:rPr sz="1600" b="1">
                <a:solidFill>
                  <a:srgbClr val="EA580C"/>
                </a:solidFill>
                <a:latin typeface="Calibri" panose="020F0502020204030204"/>
              </a:rPr>
              <a:t>98.17%</a:t>
            </a:r>
            <a:r>
              <a:rPr sz="1500" b="0">
                <a:solidFill>
                  <a:srgbClr val="1E293B"/>
                </a:solidFill>
                <a:latin typeface="Calibri" panose="020F0502020204030204"/>
              </a:rPr>
              <a:t>   |   Precision đạt </a:t>
            </a:r>
            <a:r>
              <a:rPr sz="1600" b="1">
                <a:solidFill>
                  <a:srgbClr val="EA580C"/>
                </a:solidFill>
                <a:latin typeface="Calibri" panose="020F0502020204030204"/>
              </a:rPr>
              <a:t>99.05%</a:t>
            </a:r>
            <a:r>
              <a:rPr sz="1500" b="0">
                <a:solidFill>
                  <a:srgbClr val="1E293B"/>
                </a:solidFill>
                <a:latin typeface="Calibri" panose="020F0502020204030204"/>
              </a:rPr>
              <a:t>   |   Recall đạt </a:t>
            </a:r>
            <a:r>
              <a:rPr sz="1600" b="1">
                <a:solidFill>
                  <a:srgbClr val="EA580C"/>
                </a:solidFill>
                <a:latin typeface="Calibri" panose="020F0502020204030204"/>
              </a:rPr>
              <a:t>87.50%</a:t>
            </a:r>
            <a:r>
              <a:rPr sz="1500" b="0">
                <a:solidFill>
                  <a:srgbClr val="1E293B"/>
                </a:solidFill>
                <a:latin typeface="Calibri" panose="020F0502020204030204"/>
              </a:rPr>
              <a:t>   |   Box Loss giảm mạnh </a:t>
            </a:r>
            <a:r>
              <a:rPr sz="1600" b="1">
                <a:solidFill>
                  <a:srgbClr val="1E3A8A"/>
                </a:solidFill>
                <a:latin typeface="Calibri" panose="020F0502020204030204"/>
              </a:rPr>
              <a:t>~70%</a:t>
            </a:r>
            <a:r>
              <a:rPr sz="1500" b="0">
                <a:solidFill>
                  <a:srgbClr val="1E293B"/>
                </a:solidFill>
                <a:latin typeface="Calibri" panose="020F0502020204030204"/>
              </a:rPr>
              <a:t> (3.04 xuống 0.885)</a:t>
            </a:r>
            <a:endParaRPr sz="1500" b="0">
              <a:solidFill>
                <a:srgbClr val="1E293B"/>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914400"/>
          </a:xfrm>
          <a:prstGeom prst="rect">
            <a:avLst/>
          </a:prstGeom>
          <a:noFill/>
        </p:spPr>
        <p:txBody>
          <a:bodyPr wrap="square" tIns="0" bIns="0">
            <a:spAutoFit/>
          </a:bodyPr>
          <a:lstStyle/>
          <a:p>
            <a:pPr>
              <a:spcAft>
                <a:spcPts val="200"/>
              </a:spcAft>
            </a:pPr>
            <a:r>
              <a:rPr sz="2600" b="1">
                <a:solidFill>
                  <a:srgbClr val="1E3A8A"/>
                </a:solidFill>
                <a:latin typeface="Arial" panose="020B0604020202020204"/>
              </a:rPr>
              <a:t>13. Theo dõi Đa đối tượng &amp; Tăng cường tương phản</a:t>
            </a:r>
            <a:endParaRPr sz="2600" b="1">
              <a:solidFill>
                <a:srgbClr val="1E3A8A"/>
              </a:solidFill>
              <a:latin typeface="Arial" panose="020B0604020202020204"/>
            </a:endParaRPr>
          </a:p>
          <a:p>
            <a:r>
              <a:rPr sz="1400" i="1">
                <a:solidFill>
                  <a:srgbClr val="64748B"/>
                </a:solidFill>
                <a:latin typeface="Calibri" panose="020F0502020204030204"/>
              </a:rPr>
              <a:t>Ứng dụng ByteTrack giảm trùng lặp và CLAHE tăng độ sáng thích ứng</a:t>
            </a:r>
            <a:endParaRPr sz="1400" i="1">
              <a:solidFill>
                <a:srgbClr val="64748B"/>
              </a:solidFill>
              <a:latin typeface="Calibri" panose="020F0502020204030204"/>
            </a:endParaRPr>
          </a:p>
        </p:txBody>
      </p:sp>
      <p:sp>
        <p:nvSpPr>
          <p:cNvPr id="4" name="Rectangle 3"/>
          <p:cNvSpPr/>
          <p:nvPr/>
        </p:nvSpPr>
        <p:spPr>
          <a:xfrm>
            <a:off x="457200" y="1051560"/>
            <a:ext cx="11277295" cy="365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371600"/>
            <a:ext cx="5394960" cy="484632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4846320" cy="4297680"/>
          </a:xfrm>
          <a:prstGeom prst="rect">
            <a:avLst/>
          </a:prstGeom>
          <a:noFill/>
        </p:spPr>
        <p:txBody>
          <a:bodyPr wrap="square" lIns="0" tIns="0" rIns="0" bIns="0">
            <a:spAutoFit/>
          </a:bodyPr>
          <a:lstStyle/>
          <a:p>
            <a:pPr>
              <a:spcBef>
                <a:spcPts val="200"/>
              </a:spcBef>
              <a:spcAft>
                <a:spcPts val="800"/>
              </a:spcAft>
            </a:pPr>
            <a:r>
              <a:rPr sz="1500" b="1">
                <a:solidFill>
                  <a:srgbClr val="1E3A8A"/>
                </a:solidFill>
                <a:latin typeface="Calibri" panose="020F0502020204030204"/>
              </a:rPr>
              <a:t>ByteTrack Multi-Object Tracking: </a:t>
            </a:r>
            <a:r>
              <a:rPr sz="1500" b="0">
                <a:solidFill>
                  <a:srgbClr val="1E293B"/>
                </a:solidFill>
                <a:latin typeface="Calibri" panose="020F0502020204030204"/>
              </a:rPr>
              <a:t>Sử dụng tất cả các bounding box kể cả những hộp có điểm số thấp để giảm thiểu mất vết (missing tracks).</a:t>
            </a:r>
            <a:endParaRPr sz="1500" b="0">
              <a:solidFill>
                <a:srgbClr val="1E293B"/>
              </a:solidFill>
              <a:latin typeface="Calibri" panose="020F0502020204030204"/>
            </a:endParaRPr>
          </a:p>
          <a:p>
            <a:pPr>
              <a:spcBef>
                <a:spcPts val="200"/>
              </a:spcBef>
              <a:spcAft>
                <a:spcPts val="800"/>
              </a:spcAft>
            </a:pPr>
            <a:r>
              <a:rPr sz="1500" b="1">
                <a:solidFill>
                  <a:srgbClr val="1E3A8A"/>
                </a:solidFill>
                <a:latin typeface="Calibri" panose="020F0502020204030204"/>
              </a:rPr>
              <a:t>Kalman Filter dự đoán trạng thái: </a:t>
            </a:r>
            <a:r>
              <a:rPr sz="1500" b="0">
                <a:solidFill>
                  <a:srgbClr val="1E293B"/>
                </a:solidFill>
                <a:latin typeface="Calibri" panose="020F0502020204030204"/>
              </a:rPr>
              <a:t>Dự đoán vector trạng thái `x = [cx, cy, w, h, vx, vy, vw, vh]^T` qua ma trận F và ma trận nhiễu Q.</a:t>
            </a:r>
            <a:endParaRPr sz="1500" b="0">
              <a:solidFill>
                <a:srgbClr val="1E293B"/>
              </a:solidFill>
              <a:latin typeface="Calibri" panose="020F0502020204030204"/>
            </a:endParaRPr>
          </a:p>
          <a:p>
            <a:pPr>
              <a:spcBef>
                <a:spcPts val="200"/>
              </a:spcBef>
              <a:spcAft>
                <a:spcPts val="800"/>
              </a:spcAft>
            </a:pPr>
            <a:r>
              <a:rPr sz="1500" b="1">
                <a:solidFill>
                  <a:srgbClr val="1E3A8A"/>
                </a:solidFill>
                <a:latin typeface="Calibri" panose="020F0502020204030204"/>
              </a:rPr>
              <a:t>Giải thuật Hungarian so khớp: </a:t>
            </a:r>
            <a:r>
              <a:rPr sz="1500" b="0">
                <a:solidFill>
                  <a:srgbClr val="1E293B"/>
                </a:solidFill>
                <a:latin typeface="Calibri" panose="020F0502020204030204"/>
              </a:rPr>
              <a:t>So khớp vết bám dựa trên ma trận khoảng cách IoU, gán track_id duy nhất và loại bỏ 98% hiện tượng nhận diện trùng lặp một phương tiện.</a:t>
            </a:r>
            <a:endParaRPr sz="1500" b="0">
              <a:solidFill>
                <a:srgbClr val="1E293B"/>
              </a:solidFill>
              <a:latin typeface="Calibri" panose="020F0502020204030204"/>
            </a:endParaRPr>
          </a:p>
        </p:txBody>
      </p:sp>
      <p:sp>
        <p:nvSpPr>
          <p:cNvPr id="7" name="Rounded Rectangle 6"/>
          <p:cNvSpPr/>
          <p:nvPr/>
        </p:nvSpPr>
        <p:spPr>
          <a:xfrm>
            <a:off x="6309360" y="1371600"/>
            <a:ext cx="5394960" cy="484632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645920"/>
            <a:ext cx="4846320" cy="4297680"/>
          </a:xfrm>
          <a:prstGeom prst="rect">
            <a:avLst/>
          </a:prstGeom>
          <a:noFill/>
        </p:spPr>
        <p:txBody>
          <a:bodyPr wrap="square" lIns="0" tIns="0" rIns="0" bIns="0">
            <a:spAutoFit/>
          </a:bodyPr>
          <a:lstStyle/>
          <a:p>
            <a:pPr>
              <a:spcBef>
                <a:spcPts val="200"/>
              </a:spcBef>
              <a:spcAft>
                <a:spcPts val="800"/>
              </a:spcAft>
            </a:pPr>
            <a:r>
              <a:rPr sz="1500" b="1">
                <a:solidFill>
                  <a:srgbClr val="EA580C"/>
                </a:solidFill>
                <a:latin typeface="Calibri" panose="020F0502020204030204"/>
              </a:rPr>
              <a:t>CLAHE (Contrast Limited Adaptive EQ): </a:t>
            </a:r>
            <a:r>
              <a:rPr sz="1500" b="0">
                <a:solidFill>
                  <a:srgbClr val="1E293B"/>
                </a:solidFill>
                <a:latin typeface="Calibri" panose="020F0502020204030204"/>
              </a:rPr>
              <a:t>Cân bằng biểu đồ xám thích ứng giới hạn độ tương phản để tránh phóng đại nhiễu.</a:t>
            </a:r>
            <a:endParaRPr sz="1500" b="0">
              <a:solidFill>
                <a:srgbClr val="1E293B"/>
              </a:solidFill>
              <a:latin typeface="Calibri" panose="020F0502020204030204"/>
            </a:endParaRPr>
          </a:p>
          <a:p>
            <a:pPr>
              <a:spcBef>
                <a:spcPts val="200"/>
              </a:spcBef>
              <a:spcAft>
                <a:spcPts val="800"/>
              </a:spcAft>
            </a:pPr>
            <a:r>
              <a:rPr sz="1500" b="1">
                <a:solidFill>
                  <a:srgbClr val="EA580C"/>
                </a:solidFill>
                <a:latin typeface="Calibri" panose="020F0502020204030204"/>
              </a:rPr>
              <a:t>Tác vụ phân mảnh Tile (8x8): </a:t>
            </a:r>
            <a:r>
              <a:rPr sz="1500" b="0">
                <a:solidFill>
                  <a:srgbClr val="1E293B"/>
                </a:solidFill>
                <a:latin typeface="Calibri" panose="020F0502020204030204"/>
              </a:rPr>
              <a:t>Chia ảnh thành các khối 8x8 cục bộ để tính toán dải động tương phản thích nghi thay vì cân bằng toàn cục.</a:t>
            </a:r>
            <a:endParaRPr sz="1500" b="0">
              <a:solidFill>
                <a:srgbClr val="1E293B"/>
              </a:solidFill>
              <a:latin typeface="Calibri" panose="020F0502020204030204"/>
            </a:endParaRPr>
          </a:p>
          <a:p>
            <a:pPr>
              <a:spcBef>
                <a:spcPts val="200"/>
              </a:spcBef>
              <a:spcAft>
                <a:spcPts val="800"/>
              </a:spcAft>
            </a:pPr>
            <a:r>
              <a:rPr sz="1500" b="1">
                <a:solidFill>
                  <a:srgbClr val="EA580C"/>
                </a:solidFill>
                <a:latin typeface="Calibri" panose="020F0502020204030204"/>
              </a:rPr>
              <a:t>clipLimit = 2.0: </a:t>
            </a:r>
            <a:r>
              <a:rPr sz="1500" b="0">
                <a:solidFill>
                  <a:srgbClr val="1E293B"/>
                </a:solidFill>
                <a:latin typeface="Calibri" panose="020F0502020204030204"/>
              </a:rPr>
              <a:t>Cắt ngưỡng histogram giúp kéo tương phản chữ số rõ nét, cải thiện tỷ lệ EasyOCR chính xác trong điều kiện bóng râm/ngược sáng lên thêm 15%.</a:t>
            </a:r>
            <a:endParaRPr sz="1500" b="0">
              <a:solidFill>
                <a:srgbClr val="1E293B"/>
              </a:solidFill>
              <a:latin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914400"/>
          </a:xfrm>
          <a:prstGeom prst="rect">
            <a:avLst/>
          </a:prstGeom>
          <a:noFill/>
        </p:spPr>
        <p:txBody>
          <a:bodyPr wrap="square" tIns="0" bIns="0">
            <a:spAutoFit/>
          </a:bodyPr>
          <a:lstStyle/>
          <a:p>
            <a:pPr>
              <a:spcAft>
                <a:spcPts val="200"/>
              </a:spcAft>
            </a:pPr>
            <a:r>
              <a:rPr sz="2600" b="1">
                <a:solidFill>
                  <a:srgbClr val="1E3A8A"/>
                </a:solidFill>
                <a:latin typeface="Arial" panose="020B0604020202020204"/>
              </a:rPr>
              <a:t>14. Quy trình Nhận diện Ký tự &amp; Hậu xử lý</a:t>
            </a:r>
            <a:endParaRPr sz="2600" b="1">
              <a:solidFill>
                <a:srgbClr val="1E3A8A"/>
              </a:solidFill>
              <a:latin typeface="Arial" panose="020B0604020202020204"/>
            </a:endParaRPr>
          </a:p>
          <a:p>
            <a:r>
              <a:rPr sz="1400" i="1">
                <a:solidFill>
                  <a:srgbClr val="64748B"/>
                </a:solidFill>
                <a:latin typeface="Calibri" panose="020F0502020204030204"/>
              </a:rPr>
              <a:t>Thuật toán tối ưu hóa kết quả OCR qua cơ chế Voting và Khớp tri thức</a:t>
            </a:r>
            <a:endParaRPr sz="1400" i="1">
              <a:solidFill>
                <a:srgbClr val="64748B"/>
              </a:solidFill>
              <a:latin typeface="Calibri" panose="020F0502020204030204"/>
            </a:endParaRPr>
          </a:p>
        </p:txBody>
      </p:sp>
      <p:sp>
        <p:nvSpPr>
          <p:cNvPr id="4" name="Rectangle 3"/>
          <p:cNvSpPr/>
          <p:nvPr/>
        </p:nvSpPr>
        <p:spPr>
          <a:xfrm>
            <a:off x="457200" y="1051560"/>
            <a:ext cx="11277295" cy="365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6400800" cy="4846320"/>
          </a:xfrm>
          <a:prstGeom prst="rect">
            <a:avLst/>
          </a:prstGeom>
          <a:noFill/>
        </p:spPr>
        <p:txBody>
          <a:bodyPr wrap="square" lIns="0" tIns="0" rIns="0" bIns="0">
            <a:spAutoFit/>
          </a:bodyPr>
          <a:lstStyle/>
          <a:p>
            <a:pPr>
              <a:spcBef>
                <a:spcPts val="200"/>
              </a:spcBef>
              <a:spcAft>
                <a:spcPts val="800"/>
              </a:spcAft>
            </a:pPr>
            <a:r>
              <a:rPr sz="1400" b="1">
                <a:solidFill>
                  <a:srgbClr val="1E3A8A"/>
                </a:solidFill>
                <a:latin typeface="Calibri" panose="020F0502020204030204"/>
              </a:rPr>
              <a:t>Bộ đọc EasyOCR đa ngôn ngữ: </a:t>
            </a:r>
            <a:r>
              <a:rPr sz="1400" b="0">
                <a:solidFill>
                  <a:srgbClr val="1E293B"/>
                </a:solidFill>
                <a:latin typeface="Calibri" panose="020F0502020204030204"/>
              </a:rPr>
              <a:t>Sử dụng lang=['vi', 'en'] để đọc song song chữ số và chữ cái tiếng Việt trên vùng biển cắt xén.</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Chuẩn hóa định dạng Regex: </a:t>
            </a:r>
            <a:r>
              <a:rPr sz="1400" b="0">
                <a:solidFill>
                  <a:srgbClr val="1E293B"/>
                </a:solidFill>
                <a:latin typeface="Calibri" panose="020F0502020204030204"/>
              </a:rPr>
              <a:t>Mẫu Regex lọc sạch các kết quả rác từ viền cơ khí, đinh ốc của xe, đảm bảo chuẩn biển Việt Nam.</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Multi-Frame Temporal Voting: </a:t>
            </a:r>
            <a:r>
              <a:rPr sz="1400" b="0">
                <a:solidFill>
                  <a:srgbClr val="1E293B"/>
                </a:solidFill>
                <a:latin typeface="Calibri" panose="020F0502020204030204"/>
              </a:rPr>
              <a:t>Tích lũy kết quả OCR theo track_id qua nhiều khung hình liên tiếp. Chỉ khóa (Lock) và ghi nhận vào SQLite khi số phiếu bầu ổn định đạt votes &gt;= 2.</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So khớp tri thức (SequenceMatcher): </a:t>
            </a:r>
            <a:r>
              <a:rPr sz="1400" b="0">
                <a:solidFill>
                  <a:srgbClr val="1E293B"/>
                </a:solidFill>
                <a:latin typeface="Calibri" panose="020F0502020204030204"/>
              </a:rPr>
              <a:t>So sánh chuỗi OCR thô với CSDL biển số đăng ký (Ground Truth) để tự động nắn sửa ký tự bị mờ lóa (ví dụ nắn '51H-27O.B7' thành '51H-270.87' chuẩn).</a:t>
            </a:r>
            <a:endParaRPr sz="1400" b="0">
              <a:solidFill>
                <a:srgbClr val="1E293B"/>
              </a:solidFill>
              <a:latin typeface="Calibri" panose="020F0502020204030204"/>
            </a:endParaRPr>
          </a:p>
        </p:txBody>
      </p:sp>
      <p:pic>
        <p:nvPicPr>
          <p:cNvPr id="6" name="Picture 5" descr="diag_ocr_flow.png"/>
          <p:cNvPicPr>
            <a:picLocks noChangeAspect="1"/>
          </p:cNvPicPr>
          <p:nvPr/>
        </p:nvPicPr>
        <p:blipFill>
          <a:blip r:embed="rId1"/>
          <a:stretch>
            <a:fillRect/>
          </a:stretch>
        </p:blipFill>
        <p:spPr>
          <a:xfrm>
            <a:off x="7315200" y="1371600"/>
            <a:ext cx="4389120" cy="48463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914400"/>
          </a:xfrm>
          <a:prstGeom prst="rect">
            <a:avLst/>
          </a:prstGeom>
          <a:noFill/>
        </p:spPr>
        <p:txBody>
          <a:bodyPr wrap="square" tIns="0" bIns="0">
            <a:spAutoFit/>
          </a:bodyPr>
          <a:lstStyle/>
          <a:p>
            <a:pPr>
              <a:spcAft>
                <a:spcPts val="200"/>
              </a:spcAft>
            </a:pPr>
            <a:r>
              <a:rPr sz="2600" b="1">
                <a:solidFill>
                  <a:srgbClr val="1E3A8A"/>
                </a:solidFill>
                <a:latin typeface="Arial" panose="020B0604020202020204"/>
              </a:rPr>
              <a:t>15. Giao diện Web Quản lý &amp; Dashboard UI</a:t>
            </a:r>
            <a:endParaRPr sz="2600" b="1">
              <a:solidFill>
                <a:srgbClr val="1E3A8A"/>
              </a:solidFill>
              <a:latin typeface="Arial" panose="020B0604020202020204"/>
            </a:endParaRPr>
          </a:p>
          <a:p>
            <a:r>
              <a:rPr sz="1400" i="1">
                <a:solidFill>
                  <a:srgbClr val="64748B"/>
                </a:solidFill>
                <a:latin typeface="Calibri" panose="020F0502020204030204"/>
              </a:rPr>
              <a:t>Hệ thống giám sát giao thông thông minh trực quan theo thời gian thực</a:t>
            </a:r>
            <a:endParaRPr sz="1400" i="1">
              <a:solidFill>
                <a:srgbClr val="64748B"/>
              </a:solidFill>
              <a:latin typeface="Calibri" panose="020F0502020204030204"/>
            </a:endParaRPr>
          </a:p>
        </p:txBody>
      </p:sp>
      <p:sp>
        <p:nvSpPr>
          <p:cNvPr id="4" name="Rectangle 3"/>
          <p:cNvSpPr/>
          <p:nvPr/>
        </p:nvSpPr>
        <p:spPr>
          <a:xfrm>
            <a:off x="457200" y="1051560"/>
            <a:ext cx="11277295" cy="365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shboard_full.png"/>
          <p:cNvPicPr>
            <a:picLocks noChangeAspect="1"/>
          </p:cNvPicPr>
          <p:nvPr/>
        </p:nvPicPr>
        <p:blipFill>
          <a:blip r:embed="rId1"/>
          <a:stretch>
            <a:fillRect/>
          </a:stretch>
        </p:blipFill>
        <p:spPr>
          <a:xfrm>
            <a:off x="457200" y="1371600"/>
            <a:ext cx="6583680" cy="4846320"/>
          </a:xfrm>
          <a:prstGeom prst="rect">
            <a:avLst/>
          </a:prstGeom>
        </p:spPr>
      </p:pic>
      <p:sp>
        <p:nvSpPr>
          <p:cNvPr id="6" name="TextBox 5"/>
          <p:cNvSpPr txBox="1"/>
          <p:nvPr/>
        </p:nvSpPr>
        <p:spPr>
          <a:xfrm>
            <a:off x="7406640" y="1645920"/>
            <a:ext cx="4297680" cy="4572000"/>
          </a:xfrm>
          <a:prstGeom prst="rect">
            <a:avLst/>
          </a:prstGeom>
          <a:noFill/>
        </p:spPr>
        <p:txBody>
          <a:bodyPr wrap="square" lIns="0" tIns="0" rIns="0" bIns="0">
            <a:spAutoFit/>
          </a:bodyPr>
          <a:lstStyle/>
          <a:p>
            <a:pPr>
              <a:spcBef>
                <a:spcPts val="200"/>
              </a:spcBef>
              <a:spcAft>
                <a:spcPts val="800"/>
              </a:spcAft>
            </a:pPr>
            <a:r>
              <a:rPr sz="1500" b="1">
                <a:solidFill>
                  <a:srgbClr val="1E3A8A"/>
                </a:solidFill>
                <a:latin typeface="Calibri" panose="020F0502020204030204"/>
              </a:rPr>
              <a:t>Real-time stream WebSocket: </a:t>
            </a:r>
            <a:r>
              <a:rPr sz="1500" b="0">
                <a:solidFill>
                  <a:srgbClr val="1E293B"/>
                </a:solidFill>
                <a:latin typeface="Calibri" panose="020F0502020204030204"/>
              </a:rPr>
              <a:t>Dashboard UI tự động hiển thị xe và biển số ngay khi nhận dạng thành công không cần reload.</a:t>
            </a:r>
            <a:endParaRPr sz="1500" b="0">
              <a:solidFill>
                <a:srgbClr val="1E293B"/>
              </a:solidFill>
              <a:latin typeface="Calibri" panose="020F0502020204030204"/>
            </a:endParaRPr>
          </a:p>
          <a:p>
            <a:pPr>
              <a:spcBef>
                <a:spcPts val="200"/>
              </a:spcBef>
              <a:spcAft>
                <a:spcPts val="800"/>
              </a:spcAft>
            </a:pPr>
            <a:r>
              <a:rPr sz="1500" b="1">
                <a:solidFill>
                  <a:srgbClr val="1E3A8A"/>
                </a:solidFill>
                <a:latin typeface="Calibri" panose="020F0502020204030204"/>
              </a:rPr>
              <a:t>Cảnh báo blacklist tức thì: </a:t>
            </a:r>
            <a:r>
              <a:rPr sz="1500" b="0">
                <a:solidFill>
                  <a:srgbClr val="1E293B"/>
                </a:solidFill>
                <a:latin typeface="Calibri" panose="020F0502020204030204"/>
              </a:rPr>
              <a:t>Hệ thống phát âm thanh cảnh báo và nháy đỏ nổi bật nếu phát hiện xe nằm trong danh sách đen.</a:t>
            </a:r>
            <a:endParaRPr sz="1500" b="0">
              <a:solidFill>
                <a:srgbClr val="1E293B"/>
              </a:solidFill>
              <a:latin typeface="Calibri" panose="020F0502020204030204"/>
            </a:endParaRPr>
          </a:p>
          <a:p>
            <a:pPr>
              <a:spcBef>
                <a:spcPts val="200"/>
              </a:spcBef>
              <a:spcAft>
                <a:spcPts val="800"/>
              </a:spcAft>
            </a:pPr>
            <a:r>
              <a:rPr sz="1500" b="1">
                <a:solidFill>
                  <a:srgbClr val="1E3A8A"/>
                </a:solidFill>
                <a:latin typeface="Calibri" panose="020F0502020204030204"/>
              </a:rPr>
              <a:t>Quản lý cước phí &amp; Thanh toán: </a:t>
            </a:r>
            <a:r>
              <a:rPr sz="1500" b="0">
                <a:solidFill>
                  <a:srgbClr val="1E293B"/>
                </a:solidFill>
                <a:latin typeface="Calibri" panose="020F0502020204030204"/>
              </a:rPr>
              <a:t>Module tự động tính phí dựa trên gói cước STANDARD (10k) hoặc SUPREME (50k) và hỗ trợ đổi trạng thái UNPAID/PAID.</a:t>
            </a:r>
            <a:endParaRPr sz="1500" b="0">
              <a:solidFill>
                <a:srgbClr val="1E293B"/>
              </a:solidFill>
              <a:latin typeface="Calibri" panose="020F0502020204030204"/>
            </a:endParaRPr>
          </a:p>
          <a:p>
            <a:pPr>
              <a:spcBef>
                <a:spcPts val="200"/>
              </a:spcBef>
              <a:spcAft>
                <a:spcPts val="800"/>
              </a:spcAft>
            </a:pPr>
            <a:r>
              <a:rPr sz="1500" b="1">
                <a:solidFill>
                  <a:srgbClr val="1E3A8A"/>
                </a:solidFill>
                <a:latin typeface="Calibri" panose="020F0502020204030204"/>
              </a:rPr>
              <a:t>Bảo mật &amp; Rate limit TrafficShield: </a:t>
            </a:r>
            <a:r>
              <a:rPr sz="1500" b="0">
                <a:solidFill>
                  <a:srgbClr val="1E293B"/>
                </a:solidFill>
                <a:latin typeface="Calibri" panose="020F0502020204030204"/>
              </a:rPr>
              <a:t>Giới hạn 60 req/phút/IP bảo vệ server khỏi tấn công từ chối dịch vụ (DDoS) và brute force login.</a:t>
            </a:r>
            <a:endParaRPr sz="1500" b="0">
              <a:solidFill>
                <a:srgbClr val="1E293B"/>
              </a:solidFill>
              <a:latin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914400"/>
          </a:xfrm>
          <a:prstGeom prst="rect">
            <a:avLst/>
          </a:prstGeom>
          <a:noFill/>
        </p:spPr>
        <p:txBody>
          <a:bodyPr wrap="square" tIns="0" bIns="0">
            <a:spAutoFit/>
          </a:bodyPr>
          <a:lstStyle/>
          <a:p>
            <a:pPr>
              <a:spcAft>
                <a:spcPts val="200"/>
              </a:spcAft>
            </a:pPr>
            <a:r>
              <a:rPr sz="2600" b="1">
                <a:solidFill>
                  <a:srgbClr val="1E3A8A"/>
                </a:solidFill>
                <a:latin typeface="Arial" panose="020B0604020202020204"/>
              </a:rPr>
              <a:t>16. Khung hình thực tế &amp; Kết quả Nhận diện</a:t>
            </a:r>
            <a:endParaRPr sz="2600" b="1">
              <a:solidFill>
                <a:srgbClr val="1E3A8A"/>
              </a:solidFill>
              <a:latin typeface="Arial" panose="020B0604020202020204"/>
            </a:endParaRPr>
          </a:p>
          <a:p>
            <a:r>
              <a:rPr sz="1400" i="1">
                <a:solidFill>
                  <a:srgbClr val="64748B"/>
                </a:solidFill>
                <a:latin typeface="Calibri" panose="020F0502020204030204"/>
              </a:rPr>
              <a:t>Hình ảnh xử lý thực tế trên các luồng giao thông thực tế tại Việt Nam</a:t>
            </a:r>
            <a:endParaRPr sz="1400" i="1">
              <a:solidFill>
                <a:srgbClr val="64748B"/>
              </a:solidFill>
              <a:latin typeface="Calibri" panose="020F0502020204030204"/>
            </a:endParaRPr>
          </a:p>
        </p:txBody>
      </p:sp>
      <p:sp>
        <p:nvSpPr>
          <p:cNvPr id="4" name="Rectangle 3"/>
          <p:cNvSpPr/>
          <p:nvPr/>
        </p:nvSpPr>
        <p:spPr>
          <a:xfrm>
            <a:off x="457200" y="1051560"/>
            <a:ext cx="11277295" cy="365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11277295" cy="457200"/>
          </a:xfrm>
          <a:prstGeom prst="rect">
            <a:avLst/>
          </a:prstGeom>
          <a:noFill/>
        </p:spPr>
        <p:txBody>
          <a:bodyPr wrap="square" lIns="0" tIns="0" rIns="0" bIns="0">
            <a:spAutoFit/>
          </a:bodyPr>
          <a:lstStyle/>
          <a:p>
            <a:pPr>
              <a:spcBef>
                <a:spcPts val="200"/>
              </a:spcBef>
              <a:spcAft>
                <a:spcPts val="800"/>
              </a:spcAft>
            </a:pPr>
            <a:r>
              <a:rPr sz="1500" b="1">
                <a:solidFill>
                  <a:srgbClr val="1E3A8A"/>
                </a:solidFill>
                <a:latin typeface="Calibri" panose="020F0502020204030204"/>
              </a:rPr>
              <a:t>Kiểm thử thực nghiệm trên Video cao tốc: </a:t>
            </a:r>
            <a:r>
              <a:rPr sz="1500" b="0">
                <a:solidFill>
                  <a:srgbClr val="1E293B"/>
                </a:solidFill>
                <a:latin typeface="Calibri" panose="020F0502020204030204"/>
              </a:rPr>
              <a:t>Nhận diện đồng thời nhiều phương tiện chuyển động tốc độ cao trong các điều kiện phức tạp.</a:t>
            </a:r>
            <a:endParaRPr sz="1500" b="0">
              <a:solidFill>
                <a:srgbClr val="1E293B"/>
              </a:solidFill>
              <a:latin typeface="Calibri" panose="020F0502020204030204"/>
            </a:endParaRPr>
          </a:p>
        </p:txBody>
      </p:sp>
      <p:sp>
        <p:nvSpPr>
          <p:cNvPr id="6" name="Rounded Rectangle 5"/>
          <p:cNvSpPr/>
          <p:nvPr/>
        </p:nvSpPr>
        <p:spPr>
          <a:xfrm>
            <a:off x="457200" y="1828800"/>
            <a:ext cx="3566160" cy="438912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rame_sample_01.jpg"/>
          <p:cNvPicPr>
            <a:picLocks noChangeAspect="1"/>
          </p:cNvPicPr>
          <p:nvPr/>
        </p:nvPicPr>
        <p:blipFill>
          <a:blip r:embed="rId1"/>
          <a:stretch>
            <a:fillRect/>
          </a:stretch>
        </p:blipFill>
        <p:spPr>
          <a:xfrm>
            <a:off x="640080" y="2011680"/>
            <a:ext cx="3200400" cy="2286000"/>
          </a:xfrm>
          <a:prstGeom prst="rect">
            <a:avLst/>
          </a:prstGeom>
        </p:spPr>
      </p:pic>
      <p:sp>
        <p:nvSpPr>
          <p:cNvPr id="8" name="TextBox 7"/>
          <p:cNvSpPr txBox="1"/>
          <p:nvPr/>
        </p:nvSpPr>
        <p:spPr>
          <a:xfrm>
            <a:off x="640080" y="4480560"/>
            <a:ext cx="3200400" cy="1645920"/>
          </a:xfrm>
          <a:prstGeom prst="rect">
            <a:avLst/>
          </a:prstGeom>
          <a:noFill/>
        </p:spPr>
        <p:txBody>
          <a:bodyPr wrap="square" lIns="0" tIns="0" rIns="0" bIns="0">
            <a:spAutoFit/>
          </a:bodyPr>
          <a:lstStyle/>
          <a:p>
            <a:pPr>
              <a:spcBef>
                <a:spcPts val="200"/>
              </a:spcBef>
              <a:spcAft>
                <a:spcPts val="800"/>
              </a:spcAft>
            </a:pPr>
            <a:r>
              <a:rPr sz="1200" b="1">
                <a:solidFill>
                  <a:srgbClr val="1E3A8A"/>
                </a:solidFill>
                <a:latin typeface="Calibri" panose="020F0502020204030204"/>
              </a:rPr>
              <a:t>Phương tiện ID #1: </a:t>
            </a:r>
            <a:r>
              <a:rPr sz="1200" b="0">
                <a:solidFill>
                  <a:srgbClr val="1E293B"/>
                </a:solidFill>
                <a:latin typeface="Calibri" panose="020F0502020204030204"/>
              </a:rPr>
              <a:t>Xe con màu đen di chuyển làn giữa đường cao tốc.</a:t>
            </a:r>
            <a:endParaRPr sz="1200" b="0">
              <a:solidFill>
                <a:srgbClr val="1E293B"/>
              </a:solidFill>
              <a:latin typeface="Calibri" panose="020F0502020204030204"/>
            </a:endParaRPr>
          </a:p>
          <a:p>
            <a:pPr>
              <a:spcBef>
                <a:spcPts val="200"/>
              </a:spcBef>
              <a:spcAft>
                <a:spcPts val="800"/>
              </a:spcAft>
            </a:pPr>
            <a:r>
              <a:rPr sz="1200" b="1">
                <a:solidFill>
                  <a:srgbClr val="1E3A8A"/>
                </a:solidFill>
                <a:latin typeface="Calibri" panose="020F0502020204030204"/>
              </a:rPr>
              <a:t>Biển số nhận diện: </a:t>
            </a:r>
            <a:r>
              <a:rPr sz="1200" b="0">
                <a:solidFill>
                  <a:srgbClr val="1E293B"/>
                </a:solidFill>
                <a:latin typeface="Calibri" panose="020F0502020204030204"/>
              </a:rPr>
              <a:t>Đọc chính xác chữ và số từ khoảng cách xa 12 mét.</a:t>
            </a:r>
            <a:endParaRPr sz="1200" b="0">
              <a:solidFill>
                <a:srgbClr val="1E293B"/>
              </a:solidFill>
              <a:latin typeface="Calibri" panose="020F0502020204030204"/>
            </a:endParaRPr>
          </a:p>
        </p:txBody>
      </p:sp>
      <p:sp>
        <p:nvSpPr>
          <p:cNvPr id="9" name="Rounded Rectangle 8"/>
          <p:cNvSpPr/>
          <p:nvPr/>
        </p:nvSpPr>
        <p:spPr>
          <a:xfrm>
            <a:off x="4297680" y="1828800"/>
            <a:ext cx="3566160" cy="438912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rame_sample_02.jpg"/>
          <p:cNvPicPr>
            <a:picLocks noChangeAspect="1"/>
          </p:cNvPicPr>
          <p:nvPr/>
        </p:nvPicPr>
        <p:blipFill>
          <a:blip r:embed="rId2"/>
          <a:stretch>
            <a:fillRect/>
          </a:stretch>
        </p:blipFill>
        <p:spPr>
          <a:xfrm>
            <a:off x="4480560" y="2011680"/>
            <a:ext cx="3200400" cy="2286000"/>
          </a:xfrm>
          <a:prstGeom prst="rect">
            <a:avLst/>
          </a:prstGeom>
        </p:spPr>
      </p:pic>
      <p:sp>
        <p:nvSpPr>
          <p:cNvPr id="11" name="TextBox 10"/>
          <p:cNvSpPr txBox="1"/>
          <p:nvPr/>
        </p:nvSpPr>
        <p:spPr>
          <a:xfrm>
            <a:off x="4480560" y="4480560"/>
            <a:ext cx="3200400" cy="1645920"/>
          </a:xfrm>
          <a:prstGeom prst="rect">
            <a:avLst/>
          </a:prstGeom>
          <a:noFill/>
        </p:spPr>
        <p:txBody>
          <a:bodyPr wrap="square" lIns="0" tIns="0" rIns="0" bIns="0">
            <a:spAutoFit/>
          </a:bodyPr>
          <a:lstStyle/>
          <a:p>
            <a:pPr>
              <a:spcBef>
                <a:spcPts val="200"/>
              </a:spcBef>
              <a:spcAft>
                <a:spcPts val="800"/>
              </a:spcAft>
            </a:pPr>
            <a:r>
              <a:rPr sz="1200" b="1">
                <a:solidFill>
                  <a:srgbClr val="EA580C"/>
                </a:solidFill>
                <a:latin typeface="Calibri" panose="020F0502020204030204"/>
              </a:rPr>
              <a:t>Phương tiện ID #2: </a:t>
            </a:r>
            <a:r>
              <a:rPr sz="1200" b="0">
                <a:solidFill>
                  <a:srgbClr val="1E293B"/>
                </a:solidFill>
                <a:latin typeface="Calibri" panose="020F0502020204030204"/>
              </a:rPr>
              <a:t>Xe tải nặng di chuyển làn trong cùng.</a:t>
            </a:r>
            <a:endParaRPr sz="1200" b="0">
              <a:solidFill>
                <a:srgbClr val="1E293B"/>
              </a:solidFill>
              <a:latin typeface="Calibri" panose="020F0502020204030204"/>
            </a:endParaRPr>
          </a:p>
          <a:p>
            <a:pPr>
              <a:spcBef>
                <a:spcPts val="200"/>
              </a:spcBef>
              <a:spcAft>
                <a:spcPts val="800"/>
              </a:spcAft>
            </a:pPr>
            <a:r>
              <a:rPr sz="1200" b="1">
                <a:solidFill>
                  <a:srgbClr val="EA580C"/>
                </a:solidFill>
                <a:latin typeface="Calibri" panose="020F0502020204030204"/>
              </a:rPr>
              <a:t>Bám vết Kalman: </a:t>
            </a:r>
            <a:r>
              <a:rPr sz="1200" b="0">
                <a:solidFill>
                  <a:srgbClr val="1E293B"/>
                </a:solidFill>
                <a:latin typeface="Calibri" panose="020F0502020204030204"/>
              </a:rPr>
              <a:t>Bám vết ổn định dù thân xe lớn, che khuất một phần camera.</a:t>
            </a:r>
            <a:endParaRPr sz="1200" b="0">
              <a:solidFill>
                <a:srgbClr val="1E293B"/>
              </a:solidFill>
              <a:latin typeface="Calibri" panose="020F0502020204030204"/>
            </a:endParaRPr>
          </a:p>
        </p:txBody>
      </p:sp>
      <p:sp>
        <p:nvSpPr>
          <p:cNvPr id="12" name="Rounded Rectangle 11"/>
          <p:cNvSpPr/>
          <p:nvPr/>
        </p:nvSpPr>
        <p:spPr>
          <a:xfrm>
            <a:off x="8138160" y="1828800"/>
            <a:ext cx="3566160" cy="438912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rame_sample_03.jpg"/>
          <p:cNvPicPr>
            <a:picLocks noChangeAspect="1"/>
          </p:cNvPicPr>
          <p:nvPr/>
        </p:nvPicPr>
        <p:blipFill>
          <a:blip r:embed="rId3"/>
          <a:stretch>
            <a:fillRect/>
          </a:stretch>
        </p:blipFill>
        <p:spPr>
          <a:xfrm>
            <a:off x="8321040" y="2011680"/>
            <a:ext cx="3200400" cy="2286000"/>
          </a:xfrm>
          <a:prstGeom prst="rect">
            <a:avLst/>
          </a:prstGeom>
        </p:spPr>
      </p:pic>
      <p:sp>
        <p:nvSpPr>
          <p:cNvPr id="14" name="TextBox 13"/>
          <p:cNvSpPr txBox="1"/>
          <p:nvPr/>
        </p:nvSpPr>
        <p:spPr>
          <a:xfrm>
            <a:off x="8321040" y="4480560"/>
            <a:ext cx="3200400" cy="1645920"/>
          </a:xfrm>
          <a:prstGeom prst="rect">
            <a:avLst/>
          </a:prstGeom>
          <a:noFill/>
        </p:spPr>
        <p:txBody>
          <a:bodyPr wrap="square" lIns="0" tIns="0" rIns="0" bIns="0">
            <a:spAutoFit/>
          </a:bodyPr>
          <a:lstStyle/>
          <a:p>
            <a:pPr>
              <a:spcBef>
                <a:spcPts val="200"/>
              </a:spcBef>
              <a:spcAft>
                <a:spcPts val="800"/>
              </a:spcAft>
            </a:pPr>
            <a:r>
              <a:rPr sz="1200" b="1">
                <a:solidFill>
                  <a:srgbClr val="1E3A8A"/>
                </a:solidFill>
                <a:latin typeface="Calibri" panose="020F0502020204030204"/>
              </a:rPr>
              <a:t>Nhận diện đồng thời: </a:t>
            </a:r>
            <a:r>
              <a:rPr sz="1200" b="0">
                <a:solidFill>
                  <a:srgbClr val="1E293B"/>
                </a:solidFill>
                <a:latin typeface="Calibri" panose="020F0502020204030204"/>
              </a:rPr>
              <a:t>Xử lý song song 3 phương tiện cùng xuất hiện trên khung hình.</a:t>
            </a:r>
            <a:endParaRPr sz="1200" b="0">
              <a:solidFill>
                <a:srgbClr val="1E293B"/>
              </a:solidFill>
              <a:latin typeface="Calibri" panose="020F0502020204030204"/>
            </a:endParaRPr>
          </a:p>
          <a:p>
            <a:pPr>
              <a:spcBef>
                <a:spcPts val="200"/>
              </a:spcBef>
              <a:spcAft>
                <a:spcPts val="800"/>
              </a:spcAft>
            </a:pPr>
            <a:r>
              <a:rPr sz="1200" b="1">
                <a:solidFill>
                  <a:srgbClr val="1E3A8A"/>
                </a:solidFill>
                <a:latin typeface="Calibri" panose="020F0502020204030204"/>
              </a:rPr>
              <a:t>Trễ suy luận OpenVINO: </a:t>
            </a:r>
            <a:r>
              <a:rPr sz="1200" b="0">
                <a:solidFill>
                  <a:srgbClr val="1E293B"/>
                </a:solidFill>
                <a:latin typeface="Calibri" panose="020F0502020204030204"/>
              </a:rPr>
              <a:t>Mỗi khung hình chỉ mất 45ms để hoàn thành suy luận AI biên.</a:t>
            </a:r>
            <a:endParaRPr sz="1200" b="0">
              <a:solidFill>
                <a:srgbClr val="1E293B"/>
              </a:solidFill>
              <a:latin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914400"/>
          </a:xfrm>
          <a:prstGeom prst="rect">
            <a:avLst/>
          </a:prstGeom>
          <a:noFill/>
        </p:spPr>
        <p:txBody>
          <a:bodyPr wrap="square" tIns="0" bIns="0">
            <a:spAutoFit/>
          </a:bodyPr>
          <a:lstStyle/>
          <a:p>
            <a:pPr>
              <a:spcAft>
                <a:spcPts val="200"/>
              </a:spcAft>
            </a:pPr>
            <a:r>
              <a:rPr sz="2600" b="1">
                <a:solidFill>
                  <a:srgbClr val="1E3A8A"/>
                </a:solidFill>
                <a:latin typeface="Arial" panose="020B0604020202020204"/>
              </a:rPr>
              <a:t>17. Benchmark Hiệu suất trên Edge CPU</a:t>
            </a:r>
            <a:endParaRPr sz="2600" b="1">
              <a:solidFill>
                <a:srgbClr val="1E3A8A"/>
              </a:solidFill>
              <a:latin typeface="Arial" panose="020B0604020202020204"/>
            </a:endParaRPr>
          </a:p>
          <a:p>
            <a:r>
              <a:rPr sz="1400" i="1">
                <a:solidFill>
                  <a:srgbClr val="64748B"/>
                </a:solidFill>
                <a:latin typeface="Calibri" panose="020F0502020204030204"/>
              </a:rPr>
              <a:t>Tối ưu hóa thời gian suy luận qua nền tảng Intel OpenVINO Toolkit</a:t>
            </a:r>
            <a:endParaRPr sz="1400" i="1">
              <a:solidFill>
                <a:srgbClr val="64748B"/>
              </a:solidFill>
              <a:latin typeface="Calibri" panose="020F0502020204030204"/>
            </a:endParaRPr>
          </a:p>
        </p:txBody>
      </p:sp>
      <p:sp>
        <p:nvSpPr>
          <p:cNvPr id="4" name="Rectangle 3"/>
          <p:cNvSpPr/>
          <p:nvPr/>
        </p:nvSpPr>
        <p:spPr>
          <a:xfrm>
            <a:off x="457200" y="1051560"/>
            <a:ext cx="11277295" cy="365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6217920" cy="4846320"/>
          </a:xfrm>
          <a:prstGeom prst="rect">
            <a:avLst/>
          </a:prstGeom>
          <a:noFill/>
        </p:spPr>
        <p:txBody>
          <a:bodyPr wrap="square" lIns="0" tIns="0" rIns="0" bIns="0">
            <a:spAutoFit/>
          </a:bodyPr>
          <a:lstStyle/>
          <a:p>
            <a:pPr>
              <a:spcBef>
                <a:spcPts val="200"/>
              </a:spcBef>
              <a:spcAft>
                <a:spcPts val="800"/>
              </a:spcAft>
            </a:pPr>
            <a:r>
              <a:rPr sz="1400" b="1">
                <a:solidFill>
                  <a:srgbClr val="1E3A8A"/>
                </a:solidFill>
                <a:latin typeface="Calibri" panose="020F0502020204030204"/>
              </a:rPr>
              <a:t>Môi trường thử nghiệm: </a:t>
            </a:r>
            <a:r>
              <a:rPr sz="1400" b="0">
                <a:solidFill>
                  <a:srgbClr val="1E293B"/>
                </a:solidFill>
                <a:latin typeface="Calibri" panose="020F0502020204030204"/>
              </a:rPr>
              <a:t>CPU Intel Core i7-1165G7 thông dụng, không cần GPU rời.</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YOLOv8n PyTorch gốc (.pt): </a:t>
            </a:r>
            <a:r>
              <a:rPr sz="1400" b="0">
                <a:solidFill>
                  <a:srgbClr val="1E293B"/>
                </a:solidFill>
                <a:latin typeface="Calibri" panose="020F0502020204030204"/>
              </a:rPr>
              <a:t>Thông lượng thấp chỉ đạt 8.2 FPS, trễ suy luận lên tới 122ms/frame.</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YOLOv8n ONNX: </a:t>
            </a:r>
            <a:r>
              <a:rPr sz="1400" b="0">
                <a:solidFill>
                  <a:srgbClr val="1E293B"/>
                </a:solidFill>
                <a:latin typeface="Calibri" panose="020F0502020204030204"/>
              </a:rPr>
              <a:t>Cải thiện lên 11.5 FPS (speedup 1.4x), trễ giảm còn 87ms/frame.</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OpenVINO FP32: </a:t>
            </a:r>
            <a:r>
              <a:rPr sz="1400" b="0">
                <a:solidFill>
                  <a:srgbClr val="1E293B"/>
                </a:solidFill>
                <a:latin typeface="Calibri" panose="020F0502020204030204"/>
              </a:rPr>
              <a:t>Thông lượng đạt 16.8 FPS (speedup 2.0x), trễ giảm còn 60ms/frame.</a:t>
            </a:r>
            <a:endParaRPr sz="1400" b="0">
              <a:solidFill>
                <a:srgbClr val="1E293B"/>
              </a:solidFill>
              <a:latin typeface="Calibri" panose="020F0502020204030204"/>
            </a:endParaRPr>
          </a:p>
          <a:p>
            <a:pPr>
              <a:spcBef>
                <a:spcPts val="200"/>
              </a:spcBef>
              <a:spcAft>
                <a:spcPts val="800"/>
              </a:spcAft>
            </a:pPr>
            <a:r>
              <a:rPr sz="1400" b="1">
                <a:solidFill>
                  <a:srgbClr val="1E3A8A"/>
                </a:solidFill>
                <a:latin typeface="Calibri" panose="020F0502020204030204"/>
              </a:rPr>
              <a:t>OpenVINO INT8 (Lượng tử hóa): </a:t>
            </a:r>
            <a:r>
              <a:rPr sz="1400" b="0">
                <a:solidFill>
                  <a:srgbClr val="1E293B"/>
                </a:solidFill>
                <a:latin typeface="Calibri" panose="020F0502020204030204"/>
              </a:rPr>
              <a:t>Thông lượng cực đại đạt </a:t>
            </a:r>
            <a:r>
              <a:rPr sz="1400" b="1">
                <a:solidFill>
                  <a:srgbClr val="EA580C"/>
                </a:solidFill>
                <a:latin typeface="Calibri" panose="020F0502020204030204"/>
              </a:rPr>
              <a:t>22.4 FPS</a:t>
            </a:r>
            <a:r>
              <a:rPr sz="1400" b="0">
                <a:solidFill>
                  <a:srgbClr val="1E293B"/>
                </a:solidFill>
                <a:latin typeface="Calibri" panose="020F0502020204030204"/>
              </a:rPr>
              <a:t> (speedup </a:t>
            </a:r>
            <a:r>
              <a:rPr sz="1400" b="1">
                <a:solidFill>
                  <a:srgbClr val="EA580C"/>
                </a:solidFill>
                <a:latin typeface="Calibri" panose="020F0502020204030204"/>
              </a:rPr>
              <a:t>2.7x</a:t>
            </a:r>
            <a:r>
              <a:rPr sz="1400" b="0">
                <a:solidFill>
                  <a:srgbClr val="1E293B"/>
                </a:solidFill>
                <a:latin typeface="Calibri" panose="020F0502020204030204"/>
              </a:rPr>
              <a:t> so với PyTorch gốc), độ trễ siêu thấp chỉ </a:t>
            </a:r>
            <a:r>
              <a:rPr sz="1400" b="1">
                <a:solidFill>
                  <a:srgbClr val="1E3A8A"/>
                </a:solidFill>
                <a:latin typeface="Calibri" panose="020F0502020204030204"/>
              </a:rPr>
              <a:t>45ms/frame</a:t>
            </a:r>
            <a:r>
              <a:rPr sz="1400" b="0">
                <a:solidFill>
                  <a:srgbClr val="1E293B"/>
                </a:solidFill>
                <a:latin typeface="Calibri" panose="020F0502020204030204"/>
              </a:rPr>
              <a:t>, hoàn toàn đáp ứng trơn tru thời gian thực.</a:t>
            </a:r>
            <a:endParaRPr sz="1400" b="0">
              <a:solidFill>
                <a:srgbClr val="1E293B"/>
              </a:solidFill>
              <a:latin typeface="Calibri" panose="020F0502020204030204"/>
            </a:endParaRPr>
          </a:p>
        </p:txBody>
      </p:sp>
      <p:pic>
        <p:nvPicPr>
          <p:cNvPr id="6" name="Picture 5" descr="chart_benchmark.png"/>
          <p:cNvPicPr>
            <a:picLocks noChangeAspect="1"/>
          </p:cNvPicPr>
          <p:nvPr/>
        </p:nvPicPr>
        <p:blipFill>
          <a:blip r:embed="rId1"/>
          <a:stretch>
            <a:fillRect/>
          </a:stretch>
        </p:blipFill>
        <p:spPr>
          <a:xfrm>
            <a:off x="6858000" y="1371600"/>
            <a:ext cx="4846320" cy="48463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914400"/>
          </a:xfrm>
          <a:prstGeom prst="rect">
            <a:avLst/>
          </a:prstGeom>
          <a:noFill/>
        </p:spPr>
        <p:txBody>
          <a:bodyPr wrap="square" tIns="0" bIns="0">
            <a:spAutoFit/>
          </a:bodyPr>
          <a:lstStyle/>
          <a:p>
            <a:pPr>
              <a:spcAft>
                <a:spcPts val="200"/>
              </a:spcAft>
            </a:pPr>
            <a:r>
              <a:rPr sz="2600" b="1">
                <a:solidFill>
                  <a:srgbClr val="1E3A8A"/>
                </a:solidFill>
                <a:latin typeface="Arial" panose="020B0604020202020204"/>
              </a:rPr>
              <a:t>18. Đánh giá Thực nghiệm &amp; Phân tích Lỗi</a:t>
            </a:r>
            <a:endParaRPr sz="2600" b="1">
              <a:solidFill>
                <a:srgbClr val="1E3A8A"/>
              </a:solidFill>
              <a:latin typeface="Arial" panose="020B0604020202020204"/>
            </a:endParaRPr>
          </a:p>
          <a:p>
            <a:r>
              <a:rPr sz="1400" i="1">
                <a:solidFill>
                  <a:srgbClr val="64748B"/>
                </a:solidFill>
                <a:latin typeface="Calibri" panose="020F0502020204030204"/>
              </a:rPr>
              <a:t>Hạn chế &amp; nguyên nhân gây lỗi nhận diện ALPR và cơ chế khắc phục</a:t>
            </a:r>
            <a:endParaRPr sz="1400" i="1">
              <a:solidFill>
                <a:srgbClr val="64748B"/>
              </a:solidFill>
              <a:latin typeface="Calibri" panose="020F0502020204030204"/>
            </a:endParaRPr>
          </a:p>
        </p:txBody>
      </p:sp>
      <p:sp>
        <p:nvSpPr>
          <p:cNvPr id="4" name="Rectangle 3"/>
          <p:cNvSpPr/>
          <p:nvPr/>
        </p:nvSpPr>
        <p:spPr>
          <a:xfrm>
            <a:off x="457200" y="1051560"/>
            <a:ext cx="11277295" cy="3657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0" y="1188720"/>
            <a:ext cx="3962095" cy="5486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224528" y="1280160"/>
            <a:ext cx="365760" cy="365760"/>
          </a:xfrm>
          <a:prstGeom prst="ellipse">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1E3A8A"/>
                </a:solidFill>
                <a:latin typeface="Arial" panose="020B0604020202020204"/>
              </a:rPr>
              <a:t>C</a:t>
            </a:r>
            <a:endParaRPr sz="1000" b="1">
              <a:solidFill>
                <a:srgbClr val="1E3A8A"/>
              </a:solidFill>
              <a:latin typeface="Arial" panose="020B0604020202020204"/>
            </a:endParaRPr>
          </a:p>
        </p:txBody>
      </p:sp>
      <p:sp>
        <p:nvSpPr>
          <p:cNvPr id="7" name="TextBox 6"/>
          <p:cNvSpPr txBox="1"/>
          <p:nvPr/>
        </p:nvSpPr>
        <p:spPr>
          <a:xfrm>
            <a:off x="4617720" y="1188720"/>
            <a:ext cx="3413455" cy="548640"/>
          </a:xfrm>
          <a:prstGeom prst="rect">
            <a:avLst/>
          </a:prstGeom>
          <a:noFill/>
        </p:spPr>
        <p:txBody>
          <a:bodyPr wrap="square" lIns="0" tIns="0" rIns="0" bIns="0">
            <a:spAutoFit/>
          </a:bodyPr>
          <a:lstStyle/>
          <a:p>
            <a:pPr algn="l">
              <a:spcBef>
                <a:spcPts val="300"/>
              </a:spcBef>
            </a:pPr>
            <a:r>
              <a:rPr sz="1100" b="1">
                <a:solidFill>
                  <a:srgbClr val="FFFFFF"/>
                </a:solidFill>
                <a:latin typeface="Arial" panose="020B0604020202020204"/>
              </a:rPr>
              <a:t>Lỗi Nhận Diện ALPR
</a:t>
            </a:r>
            <a:r>
              <a:rPr sz="950" i="1">
                <a:solidFill>
                  <a:srgbClr val="EAB308"/>
                </a:solidFill>
                <a:latin typeface="Calibri" panose="020F0502020204030204"/>
              </a:rPr>
              <a:t>(Hạn chế &amp; Nguyên nhân)</a:t>
            </a:r>
            <a:endParaRPr sz="950" i="1">
              <a:solidFill>
                <a:srgbClr val="EAB308"/>
              </a:solidFill>
              <a:latin typeface="Calibri" panose="020F0502020204030204"/>
            </a:endParaRPr>
          </a:p>
        </p:txBody>
      </p:sp>
      <p:sp>
        <p:nvSpPr>
          <p:cNvPr id="8" name="Rounded Rectangle 7"/>
          <p:cNvSpPr/>
          <p:nvPr/>
        </p:nvSpPr>
        <p:spPr>
          <a:xfrm>
            <a:off x="4114800" y="1783080"/>
            <a:ext cx="3962095" cy="22860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H="1">
            <a:off x="2103120" y="2011680"/>
            <a:ext cx="3992270" cy="100584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754880" y="2011680"/>
            <a:ext cx="1340510" cy="100584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390" y="2011680"/>
            <a:ext cx="1311250" cy="100584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390" y="2011680"/>
            <a:ext cx="3963010" cy="100584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4400" y="3017520"/>
            <a:ext cx="2377440" cy="50292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3090672"/>
            <a:ext cx="347472" cy="347472"/>
          </a:xfrm>
          <a:prstGeom prst="ellipse">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1E3A8A"/>
                </a:solidFill>
                <a:latin typeface="Arial" panose="020B0604020202020204"/>
              </a:rPr>
              <a:t>C</a:t>
            </a:r>
            <a:endParaRPr sz="1000" b="1">
              <a:solidFill>
                <a:srgbClr val="1E3A8A"/>
              </a:solidFill>
              <a:latin typeface="Arial" panose="020B0604020202020204"/>
            </a:endParaRPr>
          </a:p>
        </p:txBody>
      </p:sp>
      <p:sp>
        <p:nvSpPr>
          <p:cNvPr id="15" name="TextBox 14"/>
          <p:cNvSpPr txBox="1"/>
          <p:nvPr/>
        </p:nvSpPr>
        <p:spPr>
          <a:xfrm>
            <a:off x="1389888" y="3017520"/>
            <a:ext cx="1828800" cy="502920"/>
          </a:xfrm>
          <a:prstGeom prst="rect">
            <a:avLst/>
          </a:prstGeom>
          <a:noFill/>
        </p:spPr>
        <p:txBody>
          <a:bodyPr wrap="square" lIns="0" tIns="0" rIns="0" bIns="0">
            <a:spAutoFit/>
          </a:bodyPr>
          <a:lstStyle/>
          <a:p>
            <a:pPr algn="l">
              <a:spcBef>
                <a:spcPts val="500"/>
              </a:spcBef>
            </a:pPr>
            <a:r>
              <a:rPr sz="950" b="1">
                <a:solidFill>
                  <a:srgbClr val="FFFFFF"/>
                </a:solidFill>
                <a:latin typeface="Arial" panose="020B0604020202020204"/>
              </a:rPr>
              <a:t>1. Tác động từ Camera</a:t>
            </a:r>
            <a:endParaRPr sz="950" b="1">
              <a:solidFill>
                <a:srgbClr val="FFFFFF"/>
              </a:solidFill>
              <a:latin typeface="Arial" panose="020B0604020202020204"/>
            </a:endParaRPr>
          </a:p>
        </p:txBody>
      </p:sp>
      <p:sp>
        <p:nvSpPr>
          <p:cNvPr id="16" name="Rounded Rectangle 15"/>
          <p:cNvSpPr/>
          <p:nvPr/>
        </p:nvSpPr>
        <p:spPr>
          <a:xfrm>
            <a:off x="914400" y="3566160"/>
            <a:ext cx="2377440" cy="256032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3602736"/>
            <a:ext cx="2231136" cy="822960"/>
          </a:xfrm>
          <a:prstGeom prst="rect">
            <a:avLst/>
          </a:prstGeom>
          <a:noFill/>
        </p:spPr>
        <p:txBody>
          <a:bodyPr wrap="square" lIns="0" tIns="0" rIns="0" bIns="0">
            <a:spAutoFit/>
          </a:bodyPr>
          <a:lstStyle/>
          <a:p>
            <a:pPr algn="ctr">
              <a:spcBef>
                <a:spcPts val="600"/>
              </a:spcBef>
            </a:pPr>
            <a:r>
              <a:rPr sz="950">
                <a:solidFill>
                  <a:srgbClr val="1E293B"/>
                </a:solidFill>
                <a:latin typeface="Calibri" panose="020F0502020204030204"/>
              </a:rPr>
              <a:t>Mờ chuyển động
(Motion Blur)</a:t>
            </a:r>
            <a:endParaRPr sz="950">
              <a:solidFill>
                <a:srgbClr val="1E293B"/>
              </a:solidFill>
              <a:latin typeface="Calibri" panose="020F0502020204030204"/>
            </a:endParaRPr>
          </a:p>
        </p:txBody>
      </p:sp>
      <p:sp>
        <p:nvSpPr>
          <p:cNvPr id="18" name="Rectangle 17"/>
          <p:cNvSpPr/>
          <p:nvPr/>
        </p:nvSpPr>
        <p:spPr>
          <a:xfrm>
            <a:off x="960120" y="4389120"/>
            <a:ext cx="2286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4453128"/>
            <a:ext cx="2231136" cy="822960"/>
          </a:xfrm>
          <a:prstGeom prst="rect">
            <a:avLst/>
          </a:prstGeom>
          <a:noFill/>
        </p:spPr>
        <p:txBody>
          <a:bodyPr wrap="square" lIns="0" tIns="0" rIns="0" bIns="0">
            <a:spAutoFit/>
          </a:bodyPr>
          <a:lstStyle/>
          <a:p>
            <a:pPr algn="ctr">
              <a:spcBef>
                <a:spcPts val="600"/>
              </a:spcBef>
            </a:pPr>
            <a:r>
              <a:rPr sz="950">
                <a:solidFill>
                  <a:srgbClr val="1E293B"/>
                </a:solidFill>
                <a:latin typeface="Calibri" panose="020F0502020204030204"/>
              </a:rPr>
              <a:t>Méo phối cảnh
(Perspective Warp)</a:t>
            </a:r>
            <a:endParaRPr sz="950">
              <a:solidFill>
                <a:srgbClr val="1E293B"/>
              </a:solidFill>
              <a:latin typeface="Calibri" panose="020F0502020204030204"/>
            </a:endParaRPr>
          </a:p>
        </p:txBody>
      </p:sp>
      <p:sp>
        <p:nvSpPr>
          <p:cNvPr id="20" name="Rectangle 19"/>
          <p:cNvSpPr/>
          <p:nvPr/>
        </p:nvSpPr>
        <p:spPr>
          <a:xfrm>
            <a:off x="960120" y="5239512"/>
            <a:ext cx="2286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5303520"/>
            <a:ext cx="2231136" cy="822960"/>
          </a:xfrm>
          <a:prstGeom prst="rect">
            <a:avLst/>
          </a:prstGeom>
          <a:noFill/>
        </p:spPr>
        <p:txBody>
          <a:bodyPr wrap="square" lIns="0" tIns="0" rIns="0" bIns="0">
            <a:spAutoFit/>
          </a:bodyPr>
          <a:lstStyle/>
          <a:p>
            <a:pPr algn="ctr">
              <a:spcBef>
                <a:spcPts val="600"/>
              </a:spcBef>
            </a:pPr>
            <a:r>
              <a:rPr sz="950">
                <a:solidFill>
                  <a:srgbClr val="1E293B"/>
                </a:solidFill>
                <a:latin typeface="Calibri" panose="020F0502020204030204"/>
              </a:rPr>
              <a:t>Độ phân giải thấp
(Low Res)</a:t>
            </a:r>
            <a:endParaRPr sz="950">
              <a:solidFill>
                <a:srgbClr val="1E293B"/>
              </a:solidFill>
              <a:latin typeface="Calibri" panose="020F0502020204030204"/>
            </a:endParaRPr>
          </a:p>
        </p:txBody>
      </p:sp>
      <p:sp>
        <p:nvSpPr>
          <p:cNvPr id="22" name="Rounded Rectangle 21"/>
          <p:cNvSpPr/>
          <p:nvPr/>
        </p:nvSpPr>
        <p:spPr>
          <a:xfrm>
            <a:off x="3566160" y="3017520"/>
            <a:ext cx="2377440" cy="50292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657600" y="3090672"/>
            <a:ext cx="347472" cy="347472"/>
          </a:xfrm>
          <a:prstGeom prst="ellipse">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1E3A8A"/>
                </a:solidFill>
                <a:latin typeface="Arial" panose="020B0604020202020204"/>
              </a:rPr>
              <a:t>C</a:t>
            </a:r>
            <a:endParaRPr sz="1000" b="1">
              <a:solidFill>
                <a:srgbClr val="1E3A8A"/>
              </a:solidFill>
              <a:latin typeface="Arial" panose="020B0604020202020204"/>
            </a:endParaRPr>
          </a:p>
        </p:txBody>
      </p:sp>
      <p:sp>
        <p:nvSpPr>
          <p:cNvPr id="24" name="TextBox 23"/>
          <p:cNvSpPr txBox="1"/>
          <p:nvPr/>
        </p:nvSpPr>
        <p:spPr>
          <a:xfrm>
            <a:off x="4041648" y="3017520"/>
            <a:ext cx="1828800" cy="502920"/>
          </a:xfrm>
          <a:prstGeom prst="rect">
            <a:avLst/>
          </a:prstGeom>
          <a:noFill/>
        </p:spPr>
        <p:txBody>
          <a:bodyPr wrap="square" lIns="0" tIns="0" rIns="0" bIns="0">
            <a:spAutoFit/>
          </a:bodyPr>
          <a:lstStyle/>
          <a:p>
            <a:pPr algn="l">
              <a:spcBef>
                <a:spcPts val="500"/>
              </a:spcBef>
            </a:pPr>
            <a:r>
              <a:rPr sz="950" b="1">
                <a:solidFill>
                  <a:srgbClr val="FFFFFF"/>
                </a:solidFill>
                <a:latin typeface="Arial" panose="020B0604020202020204"/>
              </a:rPr>
              <a:t>2. Ánh sáng &amp; Môi trường</a:t>
            </a:r>
            <a:endParaRPr sz="950" b="1">
              <a:solidFill>
                <a:srgbClr val="FFFFFF"/>
              </a:solidFill>
              <a:latin typeface="Arial" panose="020B0604020202020204"/>
            </a:endParaRPr>
          </a:p>
        </p:txBody>
      </p:sp>
      <p:sp>
        <p:nvSpPr>
          <p:cNvPr id="25" name="Rounded Rectangle 24"/>
          <p:cNvSpPr/>
          <p:nvPr/>
        </p:nvSpPr>
        <p:spPr>
          <a:xfrm>
            <a:off x="3566160" y="3566160"/>
            <a:ext cx="2377440" cy="256032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39312" y="3602736"/>
            <a:ext cx="2231136" cy="822960"/>
          </a:xfrm>
          <a:prstGeom prst="rect">
            <a:avLst/>
          </a:prstGeom>
          <a:noFill/>
        </p:spPr>
        <p:txBody>
          <a:bodyPr wrap="square" lIns="0" tIns="0" rIns="0" bIns="0">
            <a:spAutoFit/>
          </a:bodyPr>
          <a:lstStyle/>
          <a:p>
            <a:pPr algn="ctr">
              <a:spcBef>
                <a:spcPts val="600"/>
              </a:spcBef>
            </a:pPr>
            <a:r>
              <a:rPr sz="950">
                <a:solidFill>
                  <a:srgbClr val="1E293B"/>
                </a:solidFill>
                <a:latin typeface="Calibri" panose="020F0502020204030204"/>
              </a:rPr>
              <a:t>Chói sáng phản chiếu
(Extreme Light)</a:t>
            </a:r>
            <a:endParaRPr sz="950">
              <a:solidFill>
                <a:srgbClr val="1E293B"/>
              </a:solidFill>
              <a:latin typeface="Calibri" panose="020F0502020204030204"/>
            </a:endParaRPr>
          </a:p>
        </p:txBody>
      </p:sp>
      <p:sp>
        <p:nvSpPr>
          <p:cNvPr id="27" name="Rectangle 26"/>
          <p:cNvSpPr/>
          <p:nvPr/>
        </p:nvSpPr>
        <p:spPr>
          <a:xfrm>
            <a:off x="3611880" y="4389120"/>
            <a:ext cx="2286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12007" y="4480433"/>
            <a:ext cx="2231136" cy="822960"/>
          </a:xfrm>
          <a:prstGeom prst="rect">
            <a:avLst/>
          </a:prstGeom>
          <a:noFill/>
        </p:spPr>
        <p:txBody>
          <a:bodyPr wrap="square" lIns="0" tIns="0" rIns="0" bIns="0">
            <a:spAutoFit/>
          </a:bodyPr>
          <a:lstStyle/>
          <a:p>
            <a:pPr algn="ctr">
              <a:spcBef>
                <a:spcPts val="600"/>
              </a:spcBef>
            </a:pPr>
            <a:r>
              <a:rPr sz="950">
                <a:solidFill>
                  <a:srgbClr val="1E293B"/>
                </a:solidFill>
                <a:latin typeface="Calibri" panose="020F0502020204030204"/>
              </a:rPr>
              <a:t>Tối cục bộ/Bóng râm
(Shadows)</a:t>
            </a:r>
            <a:endParaRPr sz="950">
              <a:solidFill>
                <a:srgbClr val="1E293B"/>
              </a:solidFill>
              <a:latin typeface="Calibri" panose="020F0502020204030204"/>
            </a:endParaRPr>
          </a:p>
        </p:txBody>
      </p:sp>
      <p:sp>
        <p:nvSpPr>
          <p:cNvPr id="29" name="Rectangle 28"/>
          <p:cNvSpPr/>
          <p:nvPr/>
        </p:nvSpPr>
        <p:spPr>
          <a:xfrm>
            <a:off x="3611880" y="5239512"/>
            <a:ext cx="2286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39312" y="5303520"/>
            <a:ext cx="2231136" cy="822960"/>
          </a:xfrm>
          <a:prstGeom prst="rect">
            <a:avLst/>
          </a:prstGeom>
          <a:noFill/>
        </p:spPr>
        <p:txBody>
          <a:bodyPr wrap="square" lIns="0" tIns="0" rIns="0" bIns="0">
            <a:spAutoFit/>
          </a:bodyPr>
          <a:lstStyle/>
          <a:p>
            <a:pPr algn="ctr">
              <a:spcBef>
                <a:spcPts val="600"/>
              </a:spcBef>
            </a:pPr>
            <a:r>
              <a:rPr sz="950">
                <a:solidFill>
                  <a:srgbClr val="1E293B"/>
                </a:solidFill>
                <a:latin typeface="Calibri" panose="020F0502020204030204"/>
              </a:rPr>
              <a:t>Thời tiết
(Mưa, Sương mù)</a:t>
            </a:r>
            <a:endParaRPr sz="950">
              <a:solidFill>
                <a:srgbClr val="1E293B"/>
              </a:solidFill>
              <a:latin typeface="Calibri" panose="020F0502020204030204"/>
            </a:endParaRPr>
          </a:p>
        </p:txBody>
      </p:sp>
      <p:sp>
        <p:nvSpPr>
          <p:cNvPr id="31" name="Rounded Rectangle 30"/>
          <p:cNvSpPr/>
          <p:nvPr/>
        </p:nvSpPr>
        <p:spPr>
          <a:xfrm>
            <a:off x="6217920" y="3017520"/>
            <a:ext cx="2377440" cy="50292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309360" y="3090672"/>
            <a:ext cx="347472" cy="347472"/>
          </a:xfrm>
          <a:prstGeom prst="ellipse">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1E3A8A"/>
                </a:solidFill>
                <a:latin typeface="Arial" panose="020B0604020202020204"/>
              </a:rPr>
              <a:t>C</a:t>
            </a:r>
            <a:endParaRPr sz="1000" b="1">
              <a:solidFill>
                <a:srgbClr val="1E3A8A"/>
              </a:solidFill>
              <a:latin typeface="Arial" panose="020B0604020202020204"/>
            </a:endParaRPr>
          </a:p>
        </p:txBody>
      </p:sp>
      <p:sp>
        <p:nvSpPr>
          <p:cNvPr id="33" name="TextBox 32"/>
          <p:cNvSpPr txBox="1"/>
          <p:nvPr/>
        </p:nvSpPr>
        <p:spPr>
          <a:xfrm>
            <a:off x="6693408" y="3017520"/>
            <a:ext cx="1828800" cy="502920"/>
          </a:xfrm>
          <a:prstGeom prst="rect">
            <a:avLst/>
          </a:prstGeom>
          <a:noFill/>
        </p:spPr>
        <p:txBody>
          <a:bodyPr wrap="square" lIns="0" tIns="0" rIns="0" bIns="0">
            <a:spAutoFit/>
          </a:bodyPr>
          <a:lstStyle/>
          <a:p>
            <a:pPr algn="l">
              <a:spcBef>
                <a:spcPts val="500"/>
              </a:spcBef>
            </a:pPr>
            <a:r>
              <a:rPr sz="950" b="1">
                <a:solidFill>
                  <a:srgbClr val="FFFFFF"/>
                </a:solidFill>
                <a:latin typeface="Arial" panose="020B0604020202020204"/>
              </a:rPr>
              <a:t>3. Biển số &amp; Chữ</a:t>
            </a:r>
            <a:endParaRPr sz="950" b="1">
              <a:solidFill>
                <a:srgbClr val="FFFFFF"/>
              </a:solidFill>
              <a:latin typeface="Arial" panose="020B0604020202020204"/>
            </a:endParaRPr>
          </a:p>
        </p:txBody>
      </p:sp>
      <p:sp>
        <p:nvSpPr>
          <p:cNvPr id="34" name="Rounded Rectangle 33"/>
          <p:cNvSpPr/>
          <p:nvPr/>
        </p:nvSpPr>
        <p:spPr>
          <a:xfrm>
            <a:off x="6217920" y="3566160"/>
            <a:ext cx="2377440" cy="256032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91072" y="3602736"/>
            <a:ext cx="2231136" cy="822960"/>
          </a:xfrm>
          <a:prstGeom prst="rect">
            <a:avLst/>
          </a:prstGeom>
          <a:noFill/>
        </p:spPr>
        <p:txBody>
          <a:bodyPr wrap="square" lIns="0" tIns="0" rIns="0" bIns="0">
            <a:spAutoFit/>
          </a:bodyPr>
          <a:lstStyle/>
          <a:p>
            <a:pPr algn="ctr">
              <a:spcBef>
                <a:spcPts val="600"/>
              </a:spcBef>
            </a:pPr>
            <a:r>
              <a:rPr sz="950">
                <a:solidFill>
                  <a:srgbClr val="1E293B"/>
                </a:solidFill>
                <a:latin typeface="Calibri" panose="020F0502020204030204"/>
              </a:rPr>
              <a:t>Biển bị bẩn
/ Che khuất</a:t>
            </a:r>
            <a:endParaRPr sz="950">
              <a:solidFill>
                <a:srgbClr val="1E293B"/>
              </a:solidFill>
              <a:latin typeface="Calibri" panose="020F0502020204030204"/>
            </a:endParaRPr>
          </a:p>
        </p:txBody>
      </p:sp>
      <p:sp>
        <p:nvSpPr>
          <p:cNvPr id="36" name="Rectangle 35"/>
          <p:cNvSpPr/>
          <p:nvPr/>
        </p:nvSpPr>
        <p:spPr>
          <a:xfrm>
            <a:off x="6263640" y="4389120"/>
            <a:ext cx="2286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91072" y="4453128"/>
            <a:ext cx="2231136" cy="822960"/>
          </a:xfrm>
          <a:prstGeom prst="rect">
            <a:avLst/>
          </a:prstGeom>
          <a:noFill/>
        </p:spPr>
        <p:txBody>
          <a:bodyPr wrap="square" lIns="0" tIns="0" rIns="0" bIns="0">
            <a:spAutoFit/>
          </a:bodyPr>
          <a:lstStyle/>
          <a:p>
            <a:pPr algn="ctr">
              <a:spcBef>
                <a:spcPts val="600"/>
              </a:spcBef>
            </a:pPr>
            <a:r>
              <a:rPr sz="950">
                <a:solidFill>
                  <a:srgbClr val="1E293B"/>
                </a:solidFill>
                <a:latin typeface="Calibri" panose="020F0502020204030204"/>
              </a:rPr>
              <a:t>Nhầm ký tự tương đồng
(O-0, 8-B, D-0, I-1)</a:t>
            </a:r>
            <a:endParaRPr sz="950">
              <a:solidFill>
                <a:srgbClr val="1E293B"/>
              </a:solidFill>
              <a:latin typeface="Calibri" panose="020F0502020204030204"/>
            </a:endParaRPr>
          </a:p>
        </p:txBody>
      </p:sp>
      <p:sp>
        <p:nvSpPr>
          <p:cNvPr id="38" name="Rectangle 37"/>
          <p:cNvSpPr/>
          <p:nvPr/>
        </p:nvSpPr>
        <p:spPr>
          <a:xfrm>
            <a:off x="6263640" y="5239512"/>
            <a:ext cx="2286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91072" y="5303520"/>
            <a:ext cx="2231136" cy="822960"/>
          </a:xfrm>
          <a:prstGeom prst="rect">
            <a:avLst/>
          </a:prstGeom>
          <a:noFill/>
        </p:spPr>
        <p:txBody>
          <a:bodyPr wrap="square" lIns="0" tIns="0" rIns="0" bIns="0">
            <a:spAutoFit/>
          </a:bodyPr>
          <a:lstStyle/>
          <a:p>
            <a:pPr algn="ctr">
              <a:spcBef>
                <a:spcPts val="600"/>
              </a:spcBef>
            </a:pPr>
            <a:r>
              <a:rPr sz="950">
                <a:solidFill>
                  <a:srgbClr val="1E293B"/>
                </a:solidFill>
                <a:latin typeface="Calibri" panose="020F0502020204030204"/>
              </a:rPr>
              <a:t>Biển số 2 dòng
khít nhau (Square Plate)</a:t>
            </a:r>
            <a:endParaRPr sz="950">
              <a:solidFill>
                <a:srgbClr val="1E293B"/>
              </a:solidFill>
              <a:latin typeface="Calibri" panose="020F0502020204030204"/>
            </a:endParaRPr>
          </a:p>
        </p:txBody>
      </p:sp>
      <p:sp>
        <p:nvSpPr>
          <p:cNvPr id="40" name="Rounded Rectangle 39"/>
          <p:cNvSpPr/>
          <p:nvPr/>
        </p:nvSpPr>
        <p:spPr>
          <a:xfrm>
            <a:off x="8869680" y="3017520"/>
            <a:ext cx="2377440" cy="50292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961120" y="3090672"/>
            <a:ext cx="347472" cy="347472"/>
          </a:xfrm>
          <a:prstGeom prst="ellipse">
            <a:avLst/>
          </a:prstGeom>
          <a:solidFill>
            <a:srgbClr val="FFFF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1E3A8A"/>
                </a:solidFill>
                <a:latin typeface="Arial" panose="020B0604020202020204"/>
              </a:rPr>
              <a:t>C</a:t>
            </a:r>
            <a:endParaRPr sz="1000" b="1">
              <a:solidFill>
                <a:srgbClr val="1E3A8A"/>
              </a:solidFill>
              <a:latin typeface="Arial" panose="020B0604020202020204"/>
            </a:endParaRPr>
          </a:p>
        </p:txBody>
      </p:sp>
      <p:sp>
        <p:nvSpPr>
          <p:cNvPr id="42" name="TextBox 41"/>
          <p:cNvSpPr txBox="1"/>
          <p:nvPr/>
        </p:nvSpPr>
        <p:spPr>
          <a:xfrm>
            <a:off x="9345168" y="3017520"/>
            <a:ext cx="1828800" cy="502920"/>
          </a:xfrm>
          <a:prstGeom prst="rect">
            <a:avLst/>
          </a:prstGeom>
          <a:noFill/>
        </p:spPr>
        <p:txBody>
          <a:bodyPr wrap="square" lIns="0" tIns="0" rIns="0" bIns="0">
            <a:spAutoFit/>
          </a:bodyPr>
          <a:lstStyle/>
          <a:p>
            <a:pPr algn="l">
              <a:spcBef>
                <a:spcPts val="500"/>
              </a:spcBef>
            </a:pPr>
            <a:r>
              <a:rPr sz="950" b="1">
                <a:solidFill>
                  <a:srgbClr val="FFFFFF"/>
                </a:solidFill>
                <a:latin typeface="Arial" panose="020B0604020202020204"/>
              </a:rPr>
              <a:t>4. Hạn chế Thuật toán</a:t>
            </a:r>
            <a:endParaRPr sz="950" b="1">
              <a:solidFill>
                <a:srgbClr val="FFFFFF"/>
              </a:solidFill>
              <a:latin typeface="Arial" panose="020B0604020202020204"/>
            </a:endParaRPr>
          </a:p>
        </p:txBody>
      </p:sp>
      <p:sp>
        <p:nvSpPr>
          <p:cNvPr id="43" name="Rounded Rectangle 42"/>
          <p:cNvSpPr/>
          <p:nvPr/>
        </p:nvSpPr>
        <p:spPr>
          <a:xfrm>
            <a:off x="8869680" y="3566160"/>
            <a:ext cx="2377440" cy="2560320"/>
          </a:xfrm>
          <a:prstGeom prst="roundRect">
            <a:avLst/>
          </a:prstGeom>
          <a:solidFill>
            <a:srgbClr val="F1F5F9"/>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42832" y="3602736"/>
            <a:ext cx="2231136" cy="822960"/>
          </a:xfrm>
          <a:prstGeom prst="rect">
            <a:avLst/>
          </a:prstGeom>
          <a:noFill/>
        </p:spPr>
        <p:txBody>
          <a:bodyPr wrap="square" lIns="0" tIns="0" rIns="0" bIns="0">
            <a:spAutoFit/>
          </a:bodyPr>
          <a:lstStyle/>
          <a:p>
            <a:pPr algn="ctr">
              <a:spcBef>
                <a:spcPts val="600"/>
              </a:spcBef>
            </a:pPr>
            <a:r>
              <a:rPr sz="950">
                <a:solidFill>
                  <a:srgbClr val="1E293B"/>
                </a:solidFill>
                <a:latin typeface="Calibri" panose="020F0502020204030204"/>
              </a:rPr>
              <a:t>EasyOCR bỏ sót
ký tự nét mảnh</a:t>
            </a:r>
            <a:endParaRPr sz="950">
              <a:solidFill>
                <a:srgbClr val="1E293B"/>
              </a:solidFill>
              <a:latin typeface="Calibri" panose="020F0502020204030204"/>
            </a:endParaRPr>
          </a:p>
        </p:txBody>
      </p:sp>
      <p:sp>
        <p:nvSpPr>
          <p:cNvPr id="45" name="Rectangle 44"/>
          <p:cNvSpPr/>
          <p:nvPr/>
        </p:nvSpPr>
        <p:spPr>
          <a:xfrm>
            <a:off x="8915400" y="4389120"/>
            <a:ext cx="2286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42832" y="4453128"/>
            <a:ext cx="2231136" cy="822960"/>
          </a:xfrm>
          <a:prstGeom prst="rect">
            <a:avLst/>
          </a:prstGeom>
          <a:noFill/>
        </p:spPr>
        <p:txBody>
          <a:bodyPr wrap="square" lIns="0" tIns="0" rIns="0" bIns="0">
            <a:spAutoFit/>
          </a:bodyPr>
          <a:lstStyle/>
          <a:p>
            <a:pPr algn="ctr">
              <a:spcBef>
                <a:spcPts val="600"/>
              </a:spcBef>
            </a:pPr>
            <a:r>
              <a:rPr sz="950">
                <a:solidFill>
                  <a:srgbClr val="1E293B"/>
                </a:solidFill>
                <a:latin typeface="Calibri" panose="020F0502020204030204"/>
              </a:rPr>
              <a:t>Trùng lặp trackID
do vật cản</a:t>
            </a:r>
            <a:endParaRPr sz="950">
              <a:solidFill>
                <a:srgbClr val="1E293B"/>
              </a:solidFill>
              <a:latin typeface="Calibri" panose="020F0502020204030204"/>
            </a:endParaRPr>
          </a:p>
        </p:txBody>
      </p:sp>
      <p:sp>
        <p:nvSpPr>
          <p:cNvPr id="47" name="Rectangle 46"/>
          <p:cNvSpPr/>
          <p:nvPr/>
        </p:nvSpPr>
        <p:spPr>
          <a:xfrm>
            <a:off x="8915400" y="5239512"/>
            <a:ext cx="2286000"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942832" y="5303520"/>
            <a:ext cx="2231136" cy="822960"/>
          </a:xfrm>
          <a:prstGeom prst="rect">
            <a:avLst/>
          </a:prstGeom>
          <a:noFill/>
        </p:spPr>
        <p:txBody>
          <a:bodyPr wrap="square" lIns="0" tIns="0" rIns="0" bIns="0">
            <a:spAutoFit/>
          </a:bodyPr>
          <a:lstStyle/>
          <a:p>
            <a:pPr algn="ctr">
              <a:spcBef>
                <a:spcPts val="600"/>
              </a:spcBef>
            </a:pPr>
            <a:r>
              <a:rPr sz="950">
                <a:solidFill>
                  <a:srgbClr val="1E293B"/>
                </a:solidFill>
                <a:latin typeface="Calibri" panose="020F0502020204030204"/>
              </a:rPr>
              <a:t>YOLOv8 cắt lệch viền
(BBox truncation)</a:t>
            </a:r>
            <a:endParaRPr sz="950">
              <a:solidFill>
                <a:srgbClr val="1E293B"/>
              </a:solidFill>
              <a:latin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728655" cy="914400"/>
          </a:xfrm>
          <a:prstGeom prst="rect">
            <a:avLst/>
          </a:prstGeom>
          <a:noFill/>
        </p:spPr>
        <p:txBody>
          <a:bodyPr wrap="square">
            <a:spAutoFit/>
          </a:bodyPr>
          <a:lstStyle/>
          <a:p>
            <a:r>
              <a:rPr sz="2800" b="1">
                <a:solidFill>
                  <a:srgbClr val="EAB308"/>
                </a:solidFill>
                <a:latin typeface="Arial" panose="020B0604020202020204"/>
              </a:rPr>
              <a:t>KẾT LUẬN &amp; HƯỚNG PHÁT TRIỂN TƯƠNG LAI</a:t>
            </a:r>
            <a:endParaRPr sz="2800" b="1">
              <a:solidFill>
                <a:srgbClr val="EAB308"/>
              </a:solidFill>
              <a:latin typeface="Arial" panose="020B0604020202020204"/>
            </a:endParaRPr>
          </a:p>
        </p:txBody>
      </p:sp>
      <p:sp>
        <p:nvSpPr>
          <p:cNvPr id="4" name="Rounded Rectangle 3"/>
          <p:cNvSpPr/>
          <p:nvPr/>
        </p:nvSpPr>
        <p:spPr>
          <a:xfrm>
            <a:off x="731520" y="1828800"/>
            <a:ext cx="5120640" cy="4114800"/>
          </a:xfrm>
          <a:prstGeom prst="roundRect">
            <a:avLst/>
          </a:prstGeom>
          <a:solidFill>
            <a:srgbClr val="0F172A"/>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03120"/>
            <a:ext cx="4572000" cy="3566160"/>
          </a:xfrm>
          <a:prstGeom prst="rect">
            <a:avLst/>
          </a:prstGeom>
          <a:noFill/>
        </p:spPr>
        <p:txBody>
          <a:bodyPr wrap="square" lIns="0" tIns="0" rIns="0" bIns="0">
            <a:spAutoFit/>
          </a:bodyPr>
          <a:lstStyle/>
          <a:p>
            <a:pPr>
              <a:spcBef>
                <a:spcPts val="200"/>
              </a:spcBef>
              <a:spcAft>
                <a:spcPts val="800"/>
              </a:spcAft>
            </a:pPr>
            <a:r>
              <a:rPr sz="1500" b="1">
                <a:solidFill>
                  <a:srgbClr val="EAB308"/>
                </a:solidFill>
                <a:latin typeface="Calibri" panose="020F0502020204030204"/>
              </a:rPr>
              <a:t>Xây dựng thành công hệ thống: </a:t>
            </a:r>
            <a:r>
              <a:rPr sz="1500" b="0">
                <a:solidFill>
                  <a:srgbClr val="F1F5F9"/>
                </a:solidFill>
                <a:latin typeface="Calibri" panose="020F0502020204030204"/>
              </a:rPr>
              <a:t>Pipeline ALPR và Traffic Monitoring khép kín toàn diện từ lớp biên Edge AI đến Web Dashboard quản trị.</a:t>
            </a:r>
            <a:endParaRPr sz="1500" b="0">
              <a:solidFill>
                <a:srgbClr val="F1F5F9"/>
              </a:solidFill>
              <a:latin typeface="Calibri" panose="020F0502020204030204"/>
            </a:endParaRPr>
          </a:p>
          <a:p>
            <a:pPr>
              <a:spcBef>
                <a:spcPts val="200"/>
              </a:spcBef>
              <a:spcAft>
                <a:spcPts val="800"/>
              </a:spcAft>
            </a:pPr>
            <a:r>
              <a:rPr sz="1500" b="1">
                <a:solidFill>
                  <a:srgbClr val="EAB308"/>
                </a:solidFill>
                <a:latin typeface="Calibri" panose="020F0502020204030204"/>
              </a:rPr>
              <a:t>Độ chính xác xuất sắc: </a:t>
            </a:r>
            <a:r>
              <a:rPr sz="1500" b="0">
                <a:solidFill>
                  <a:srgbClr val="F1F5F9"/>
                </a:solidFill>
                <a:latin typeface="Calibri" panose="020F0502020204030204"/>
              </a:rPr>
              <a:t>Fine-tune YOLOv8 đạt mAP@50 = 98.17% trên tập dữ liệu biển Việt Nam.</a:t>
            </a:r>
            <a:endParaRPr sz="1500" b="0">
              <a:solidFill>
                <a:srgbClr val="F1F5F9"/>
              </a:solidFill>
              <a:latin typeface="Calibri" panose="020F0502020204030204"/>
            </a:endParaRPr>
          </a:p>
          <a:p>
            <a:pPr>
              <a:spcBef>
                <a:spcPts val="200"/>
              </a:spcBef>
              <a:spcAft>
                <a:spcPts val="800"/>
              </a:spcAft>
            </a:pPr>
            <a:r>
              <a:rPr sz="1500" b="1">
                <a:solidFill>
                  <a:srgbClr val="EAB308"/>
                </a:solidFill>
                <a:latin typeface="Calibri" panose="020F0502020204030204"/>
              </a:rPr>
              <a:t>Hiệu suất tối ưu: </a:t>
            </a:r>
            <a:r>
              <a:rPr sz="1500" b="0">
                <a:solidFill>
                  <a:srgbClr val="F1F5F9"/>
                </a:solidFill>
                <a:latin typeface="Calibri" panose="020F0502020204030204"/>
              </a:rPr>
              <a:t>Đạt 22.4 FPS trên CPU i7 thông dụng nhờ OpenVINO, tiết kiệm tối đa chi phí phần cứng GPU.</a:t>
            </a:r>
            <a:endParaRPr sz="1500" b="0">
              <a:solidFill>
                <a:srgbClr val="F1F5F9"/>
              </a:solidFill>
              <a:latin typeface="Calibri" panose="020F0502020204030204"/>
            </a:endParaRPr>
          </a:p>
        </p:txBody>
      </p:sp>
      <p:sp>
        <p:nvSpPr>
          <p:cNvPr id="6" name="Rounded Rectangle 5"/>
          <p:cNvSpPr/>
          <p:nvPr/>
        </p:nvSpPr>
        <p:spPr>
          <a:xfrm>
            <a:off x="6309360" y="1828800"/>
            <a:ext cx="5120640" cy="4114800"/>
          </a:xfrm>
          <a:prstGeom prst="roundRect">
            <a:avLst/>
          </a:prstGeom>
          <a:solidFill>
            <a:srgbClr val="0F172A"/>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2103120"/>
            <a:ext cx="4572000" cy="3566160"/>
          </a:xfrm>
          <a:prstGeom prst="rect">
            <a:avLst/>
          </a:prstGeom>
          <a:noFill/>
        </p:spPr>
        <p:txBody>
          <a:bodyPr wrap="square" lIns="0" tIns="0" rIns="0" bIns="0">
            <a:spAutoFit/>
          </a:bodyPr>
          <a:lstStyle/>
          <a:p>
            <a:pPr>
              <a:spcBef>
                <a:spcPts val="200"/>
              </a:spcBef>
              <a:spcAft>
                <a:spcPts val="800"/>
              </a:spcAft>
            </a:pPr>
            <a:r>
              <a:rPr sz="1500" b="1">
                <a:solidFill>
                  <a:srgbClr val="EAB308"/>
                </a:solidFill>
                <a:latin typeface="Calibri" panose="020F0502020204030204"/>
              </a:rPr>
              <a:t>Khối STN (Spatial Transformer Network): </a:t>
            </a:r>
            <a:r>
              <a:rPr sz="1500" b="0">
                <a:solidFill>
                  <a:srgbClr val="F1F5F9"/>
                </a:solidFill>
                <a:latin typeface="Calibri" panose="020F0502020204030204"/>
              </a:rPr>
              <a:t>Tích hợp để nắn thẳng các biển số bị méo, nghiêng góc lớn (&gt;30 độ) trước khi OCR.</a:t>
            </a:r>
            <a:endParaRPr sz="1500" b="0">
              <a:solidFill>
                <a:srgbClr val="F1F5F9"/>
              </a:solidFill>
              <a:latin typeface="Calibri" panose="020F0502020204030204"/>
            </a:endParaRPr>
          </a:p>
          <a:p>
            <a:pPr>
              <a:spcBef>
                <a:spcPts val="200"/>
              </a:spcBef>
              <a:spcAft>
                <a:spcPts val="800"/>
              </a:spcAft>
            </a:pPr>
            <a:r>
              <a:rPr sz="1500" b="1">
                <a:solidFill>
                  <a:srgbClr val="EAB308"/>
                </a:solidFill>
                <a:latin typeface="Calibri" panose="020F0502020204030204"/>
              </a:rPr>
              <a:t>Mô hình siêu phân giải (Super-Resolution): </a:t>
            </a:r>
            <a:r>
              <a:rPr sz="1500" b="0">
                <a:solidFill>
                  <a:srgbClr val="F1F5F9"/>
                </a:solidFill>
                <a:latin typeface="Calibri" panose="020F0502020204030204"/>
              </a:rPr>
              <a:t>Tăng độ phân giải cho những biển số xe ở cự ly rất xa camera.</a:t>
            </a:r>
            <a:endParaRPr sz="1500" b="0">
              <a:solidFill>
                <a:srgbClr val="F1F5F9"/>
              </a:solidFill>
              <a:latin typeface="Calibri" panose="020F0502020204030204"/>
            </a:endParaRPr>
          </a:p>
          <a:p>
            <a:pPr>
              <a:spcBef>
                <a:spcPts val="200"/>
              </a:spcBef>
              <a:spcAft>
                <a:spcPts val="800"/>
              </a:spcAft>
            </a:pPr>
            <a:r>
              <a:rPr sz="1500" b="1">
                <a:solidFill>
                  <a:srgbClr val="EAB308"/>
                </a:solidFill>
                <a:latin typeface="Calibri" panose="020F0502020204030204"/>
              </a:rPr>
              <a:t>Mở rộng cổng thanh toán online: </a:t>
            </a:r>
            <a:r>
              <a:rPr sz="1500" b="0">
                <a:solidFill>
                  <a:srgbClr val="F1F5F9"/>
                </a:solidFill>
                <a:latin typeface="Calibri" panose="020F0502020204030204"/>
              </a:rPr>
              <a:t>Tích hợp API VNPAY, MoMo, ZaloPay cho module tự động tính cước xe.</a:t>
            </a:r>
            <a:endParaRPr sz="1500" b="0">
              <a:solidFill>
                <a:srgbClr val="F1F5F9"/>
              </a:solidFill>
              <a:latin typeface="Calibri" panose="020F0502020204030204"/>
            </a:endParaRPr>
          </a:p>
        </p:txBody>
      </p:sp>
      <p:sp>
        <p:nvSpPr>
          <p:cNvPr id="8" name="TextBox 7"/>
          <p:cNvSpPr txBox="1"/>
          <p:nvPr/>
        </p:nvSpPr>
        <p:spPr>
          <a:xfrm>
            <a:off x="731520" y="6035040"/>
            <a:ext cx="10728655" cy="548640"/>
          </a:xfrm>
          <a:prstGeom prst="rect">
            <a:avLst/>
          </a:prstGeom>
          <a:noFill/>
        </p:spPr>
        <p:txBody>
          <a:bodyPr wrap="square">
            <a:spAutoFit/>
          </a:bodyPr>
          <a:lstStyle/>
          <a:p>
            <a:pPr algn="ctr"/>
            <a:r>
              <a:rPr sz="1600" b="1">
                <a:solidFill>
                  <a:srgbClr val="EAB308"/>
                </a:solidFill>
                <a:latin typeface="Arial" panose="020B0604020202020204"/>
              </a:rPr>
              <a:t>CẢM ƠN THẦY HƯỚNG DẪN TS. ĐÀO DUY TUẤN VÀ HỘI ĐỒNG ĐÃ LẮNG NGHE!  –  Q&amp;A</a:t>
            </a:r>
            <a:endParaRPr sz="1600" b="1">
              <a:solidFill>
                <a:srgbClr val="EAB308"/>
              </a:solidFill>
              <a:latin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13265</Words>
  <Application>WPS Presentation</Application>
  <PresentationFormat>On-screen Show (4:3)</PresentationFormat>
  <Paragraphs>272</Paragraphs>
  <Slides>20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Arial</vt:lpstr>
      <vt:lpstr>SimSun</vt:lpstr>
      <vt:lpstr>Wingdings</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Dung Tien</cp:lastModifiedBy>
  <cp:revision>2</cp:revision>
  <dcterms:created xsi:type="dcterms:W3CDTF">2013-01-27T09:14:00Z</dcterms:created>
  <dcterms:modified xsi:type="dcterms:W3CDTF">2026-05-22T15:02:43Z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C9F90FE9CA9F414998F5E9C835C76316_12</vt:lpwstr>
  </property>
  <property fmtid="{D5CDD505-2E9C-101B-9397-08002B2CF9AE}" pid="3" name="KSOProductBuildVer">
    <vt:lpwstr>1033-12.1.0.26372</vt:lpwstr>
  </property>
</Properties>
</file>